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Plastic production is set to nearly triple by 2060 - 460 million tonnes in 2019 to a projected 1,231. In 2022, 175 countries agreed to write a treaty to stop that. They have now failed twice. What I want to show you is not the failure. It is what the failure did to the people fighting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March 2022 the UN agreed to negotiate a binding treaty covering the full life cycle of plastic. Production, use, disposal. Five rounds of talks, finishing December 2024. That deadline came and went. So did the next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rounds collapsed on the same split. On one side, around seventy countries wanting binding limits on how much plastic gets made. On the other, oil-producing states who wanted a treaty about bins and recycling only. Two hundred and thirty-four fossil-fuel lobbyists registered at Geneva. That was more people than the entire European Union sent. Panama's delegate said: we will not betray future generations. The talks ended with no deal. [PAUSE two seconds after the number.]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comes down to one question. Is plastic a waste problem or a production problem? If it is waste, you fix it with recycling and cleanups. If it is production, you have to tell oil companies to make less. That is why this is hard. And the science moved the argument. Researchers found microplastics in human artery plaque and in human brains. Plastic stopped being about turtles and started being about us. Those square brackets are the motif of this deck - every one is something countries still argue about.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what changed. Four shifts. One, the movement stopped trusting consensus. When any one country can veto everything, campaigners now demand majority voting instead. Two, it stopped trusting company promises - weeks after Busan failed, Coca-Cola quietly weakened its recycled plastic targets. Three, it moved upstream, from cleaning beaches to capping production. And four, it went to court: California is suing ExxonMobil for telling the public that plastic was recyclable when it knew most of it was not. The movement did not get quieter after losing. It got harder to deal with. [Slow down. One sentence per 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February this year, countries elected a new chair, Julio Cordano of Chile. He restarted talks in Nairobi in July. But he kept production off the agenda, and the draft he published two weeks ago leaves production out entirely. France called it disappointing. Formal negotiations now happen in March 2027. So the process survived. The ambition is shrinking.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movement's own answer is no. Its slogan now is that no treaty beats a bad treaty. But that is a gamble, because while they hold out, production keeps rising. So I will leave you with the question they are arguing over right now. Is a weak treaty better than no treaty at 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TextBox 1"/>
          <p:cNvSpPr txBox="1"/>
          <p:nvPr/>
        </p:nvSpPr>
        <p:spPr>
          <a:xfrm>
            <a:off x="548640" y="548640"/>
            <a:ext cx="5486400" cy="237744"/>
          </a:xfrm>
          <a:prstGeom prst="rect">
            <a:avLst/>
          </a:prstGeom>
          <a:noFill/>
        </p:spPr>
        <p:txBody>
          <a:bodyPr wrap="square" anchor="t" lIns="0" rIns="0" tIns="0" bIns="0">
            <a:spAutoFit/>
          </a:bodyPr>
          <a:lstStyle/>
          <a:p>
            <a:pPr algn="l">
              <a:lnSpc>
                <a:spcPct val="130000"/>
              </a:lnSpc>
            </a:pPr>
            <a:r>
              <a:rPr sz="1300" b="1" i="0" spc="104">
                <a:solidFill>
                  <a:srgbClr val="8FA9B8"/>
                </a:solidFill>
                <a:latin typeface="Calibri"/>
              </a:rPr>
              <a:t>GLOBAL PLASTICS TREATY</a:t>
            </a:r>
          </a:p>
        </p:txBody>
      </p:sp>
      <p:sp>
        <p:nvSpPr>
          <p:cNvPr id="3" name="Rectangle 2" descr="Bar: 460 million tonnes of plastic produced in 2019"/>
          <p:cNvSpPr/>
          <p:nvPr/>
        </p:nvSpPr>
        <p:spPr>
          <a:xfrm>
            <a:off x="7863840" y="2906841"/>
            <a:ext cx="1005840" cy="1025078"/>
          </a:xfrm>
          <a:prstGeom prst="rect">
            <a:avLst/>
          </a:prstGeom>
          <a:solidFill>
            <a:srgbClr val="8FA9B8"/>
          </a:solidFill>
          <a:ln>
            <a:noFill/>
          </a:ln>
          <a:effectLst/>
        </p:spPr>
        <p:txBody>
          <a:bodyPr rtlCol="0" anchor="ctr"/>
          <a:lstStyle/>
          <a:p/>
        </p:txBody>
      </p:sp>
      <p:sp>
        <p:nvSpPr>
          <p:cNvPr id="4" name="Rectangle 3" descr="Bar: 1,231 million tonnes of plastic projected for 2060"/>
          <p:cNvSpPr/>
          <p:nvPr/>
        </p:nvSpPr>
        <p:spPr>
          <a:xfrm>
            <a:off x="9418320" y="1188719"/>
            <a:ext cx="1005840" cy="2743200"/>
          </a:xfrm>
          <a:prstGeom prst="rect">
            <a:avLst/>
          </a:prstGeom>
          <a:solidFill>
            <a:srgbClr val="E8663A"/>
          </a:solidFill>
          <a:ln>
            <a:noFill/>
          </a:ln>
          <a:effectLst/>
        </p:spPr>
        <p:txBody>
          <a:bodyPr rtlCol="0" anchor="ctr"/>
          <a:lstStyle/>
          <a:p/>
        </p:txBody>
      </p:sp>
      <p:sp>
        <p:nvSpPr>
          <p:cNvPr id="5" name="TextBox 4"/>
          <p:cNvSpPr txBox="1"/>
          <p:nvPr/>
        </p:nvSpPr>
        <p:spPr>
          <a:xfrm>
            <a:off x="7863840" y="2431353"/>
            <a:ext cx="1463040" cy="365760"/>
          </a:xfrm>
          <a:prstGeom prst="rect">
            <a:avLst/>
          </a:prstGeom>
          <a:noFill/>
        </p:spPr>
        <p:txBody>
          <a:bodyPr wrap="square" anchor="t" lIns="0" rIns="0" tIns="0" bIns="0">
            <a:spAutoFit/>
          </a:bodyPr>
          <a:lstStyle/>
          <a:p>
            <a:pPr algn="l">
              <a:lnSpc>
                <a:spcPct val="130000"/>
              </a:lnSpc>
            </a:pPr>
            <a:r>
              <a:rPr sz="2000" b="1" i="0">
                <a:solidFill>
                  <a:srgbClr val="F2EFE9"/>
                </a:solidFill>
                <a:latin typeface="Cambria"/>
              </a:rPr>
              <a:t>460 Mt</a:t>
            </a:r>
          </a:p>
        </p:txBody>
      </p:sp>
      <p:sp>
        <p:nvSpPr>
          <p:cNvPr id="6" name="TextBox 5"/>
          <p:cNvSpPr txBox="1"/>
          <p:nvPr/>
        </p:nvSpPr>
        <p:spPr>
          <a:xfrm>
            <a:off x="9418320" y="713231"/>
            <a:ext cx="2103120" cy="365760"/>
          </a:xfrm>
          <a:prstGeom prst="rect">
            <a:avLst/>
          </a:prstGeom>
          <a:noFill/>
        </p:spPr>
        <p:txBody>
          <a:bodyPr wrap="square" anchor="t" lIns="0" rIns="0" tIns="0" bIns="0">
            <a:spAutoFit/>
          </a:bodyPr>
          <a:lstStyle/>
          <a:p>
            <a:pPr algn="l">
              <a:lnSpc>
                <a:spcPct val="130000"/>
              </a:lnSpc>
            </a:pPr>
            <a:r>
              <a:rPr sz="2000" b="1" i="0">
                <a:solidFill>
                  <a:srgbClr val="E8663A"/>
                </a:solidFill>
                <a:latin typeface="Cambria"/>
              </a:rPr>
              <a:t>1,231 Mt</a:t>
            </a:r>
          </a:p>
        </p:txBody>
      </p:sp>
      <p:sp>
        <p:nvSpPr>
          <p:cNvPr id="7" name="TextBox 6"/>
          <p:cNvSpPr txBox="1"/>
          <p:nvPr/>
        </p:nvSpPr>
        <p:spPr>
          <a:xfrm>
            <a:off x="7863840" y="4023359"/>
            <a:ext cx="1463040" cy="237744"/>
          </a:xfrm>
          <a:prstGeom prst="rect">
            <a:avLst/>
          </a:prstGeom>
          <a:noFill/>
        </p:spPr>
        <p:txBody>
          <a:bodyPr wrap="square" anchor="t" lIns="0" rIns="0" tIns="0" bIns="0">
            <a:spAutoFit/>
          </a:bodyPr>
          <a:lstStyle/>
          <a:p>
            <a:pPr algn="l">
              <a:lnSpc>
                <a:spcPct val="130000"/>
              </a:lnSpc>
            </a:pPr>
            <a:r>
              <a:rPr sz="1000" b="0" i="0">
                <a:solidFill>
                  <a:srgbClr val="8FA9B8"/>
                </a:solidFill>
                <a:latin typeface="Calibri"/>
              </a:rPr>
              <a:t>2019</a:t>
            </a:r>
          </a:p>
        </p:txBody>
      </p:sp>
      <p:sp>
        <p:nvSpPr>
          <p:cNvPr id="8" name="TextBox 7"/>
          <p:cNvSpPr txBox="1"/>
          <p:nvPr/>
        </p:nvSpPr>
        <p:spPr>
          <a:xfrm>
            <a:off x="9418320" y="4023359"/>
            <a:ext cx="2103120" cy="237744"/>
          </a:xfrm>
          <a:prstGeom prst="rect">
            <a:avLst/>
          </a:prstGeom>
          <a:noFill/>
        </p:spPr>
        <p:txBody>
          <a:bodyPr wrap="square" anchor="t" lIns="0" rIns="0" tIns="0" bIns="0">
            <a:spAutoFit/>
          </a:bodyPr>
          <a:lstStyle/>
          <a:p>
            <a:pPr algn="l">
              <a:lnSpc>
                <a:spcPct val="130000"/>
              </a:lnSpc>
            </a:pPr>
            <a:r>
              <a:rPr sz="1000" b="0" i="0">
                <a:solidFill>
                  <a:srgbClr val="8FA9B8"/>
                </a:solidFill>
                <a:latin typeface="Calibri"/>
              </a:rPr>
              <a:t>2060, projected</a:t>
            </a:r>
          </a:p>
        </p:txBody>
      </p:sp>
      <p:sp>
        <p:nvSpPr>
          <p:cNvPr id="9" name="TextBox 8"/>
          <p:cNvSpPr txBox="1"/>
          <p:nvPr/>
        </p:nvSpPr>
        <p:spPr>
          <a:xfrm>
            <a:off x="7863840" y="4434840"/>
            <a:ext cx="3776472" cy="256032"/>
          </a:xfrm>
          <a:prstGeom prst="rect">
            <a:avLst/>
          </a:prstGeom>
          <a:noFill/>
        </p:spPr>
        <p:txBody>
          <a:bodyPr wrap="square" anchor="t" lIns="0" rIns="0" tIns="0" bIns="0">
            <a:spAutoFit/>
          </a:bodyPr>
          <a:lstStyle/>
          <a:p>
            <a:pPr algn="l">
              <a:lnSpc>
                <a:spcPct val="110000"/>
              </a:lnSpc>
            </a:pPr>
            <a:r>
              <a:rPr sz="1000" b="0" i="0">
                <a:solidFill>
                  <a:srgbClr val="6E8797"/>
                </a:solidFill>
                <a:latin typeface="Calibri"/>
              </a:rPr>
              <a:t>Source: OECD Global Plastics Outlook, 2022</a:t>
            </a:r>
          </a:p>
        </p:txBody>
      </p:sp>
      <p:sp>
        <p:nvSpPr>
          <p:cNvPr id="10" name="TextBox 9"/>
          <p:cNvSpPr txBox="1"/>
          <p:nvPr/>
        </p:nvSpPr>
        <p:spPr>
          <a:xfrm>
            <a:off x="548640" y="5074920"/>
            <a:ext cx="8229600" cy="713232"/>
          </a:xfrm>
          <a:prstGeom prst="rect">
            <a:avLst/>
          </a:prstGeom>
          <a:noFill/>
        </p:spPr>
        <p:txBody>
          <a:bodyPr wrap="square" anchor="t" lIns="0" rIns="0" tIns="0" bIns="0">
            <a:spAutoFit/>
          </a:bodyPr>
          <a:lstStyle/>
          <a:p>
            <a:pPr algn="l">
              <a:lnSpc>
                <a:spcPct val="110000"/>
              </a:lnSpc>
            </a:pPr>
            <a:r>
              <a:rPr sz="4000" b="1" i="0">
                <a:solidFill>
                  <a:srgbClr val="F2EFE9"/>
                </a:solidFill>
                <a:latin typeface="Cambria"/>
              </a:rPr>
              <a:t>The treaty that failed twice</a:t>
            </a:r>
          </a:p>
        </p:txBody>
      </p:sp>
      <p:sp>
        <p:nvSpPr>
          <p:cNvPr id="11" name="TextBox 10"/>
          <p:cNvSpPr txBox="1"/>
          <p:nvPr/>
        </p:nvSpPr>
        <p:spPr>
          <a:xfrm>
            <a:off x="548640" y="5760720"/>
            <a:ext cx="6400800" cy="365760"/>
          </a:xfrm>
          <a:prstGeom prst="rect">
            <a:avLst/>
          </a:prstGeom>
          <a:noFill/>
        </p:spPr>
        <p:txBody>
          <a:bodyPr wrap="square" anchor="b" lIns="0" rIns="0" tIns="0" bIns="0">
            <a:spAutoFit/>
          </a:bodyPr>
          <a:lstStyle/>
          <a:p>
            <a:pPr algn="l">
              <a:lnSpc>
                <a:spcPct val="110000"/>
              </a:lnSpc>
            </a:pPr>
            <a:r>
              <a:rPr sz="1600" b="0" i="0">
                <a:solidFill>
                  <a:srgbClr val="8FA9B8"/>
                </a:solidFill>
                <a:latin typeface="Calibri"/>
              </a:rPr>
              <a:t>And what that did to a movement</a:t>
            </a:r>
          </a:p>
        </p:txBody>
      </p:sp>
      <p:sp>
        <p:nvSpPr>
          <p:cNvPr id="12" name="TextBox 11"/>
          <p:cNvSpPr txBox="1"/>
          <p:nvPr/>
        </p:nvSpPr>
        <p:spPr>
          <a:xfrm>
            <a:off x="7315200" y="5760720"/>
            <a:ext cx="3108960" cy="365760"/>
          </a:xfrm>
          <a:prstGeom prst="rect">
            <a:avLst/>
          </a:prstGeom>
          <a:noFill/>
        </p:spPr>
        <p:txBody>
          <a:bodyPr wrap="square" anchor="b" lIns="0" rIns="0" tIns="0" bIns="0">
            <a:spAutoFit/>
          </a:bodyPr>
          <a:lstStyle/>
          <a:p>
            <a:pPr algn="r">
              <a:lnSpc>
                <a:spcPct val="110000"/>
              </a:lnSpc>
            </a:pPr>
            <a:r>
              <a:rPr sz="1000" b="0" i="0">
                <a:solidFill>
                  <a:srgbClr val="8FA9B8"/>
                </a:solidFill>
                <a:latin typeface="Calibri"/>
              </a:rPr>
              <a:t>Cesco Cugliari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EFE9"/>
        </a:solidFill>
        <a:effectLst/>
      </p:bgPr>
    </p:bg>
    <p:spTree>
      <p:nvGrpSpPr>
        <p:cNvPr id="1" name=""/>
        <p:cNvGrpSpPr/>
        <p:nvPr/>
      </p:nvGrpSpPr>
      <p:grpSpPr/>
      <p:sp>
        <p:nvSpPr>
          <p:cNvPr id="2" name="TextBox 1"/>
          <p:cNvSpPr txBox="1"/>
          <p:nvPr/>
        </p:nvSpPr>
        <p:spPr>
          <a:xfrm>
            <a:off x="548640" y="548640"/>
            <a:ext cx="11094722" cy="658368"/>
          </a:xfrm>
          <a:prstGeom prst="rect">
            <a:avLst/>
          </a:prstGeom>
          <a:noFill/>
        </p:spPr>
        <p:txBody>
          <a:bodyPr wrap="square" anchor="t" lIns="0" rIns="0" tIns="0" bIns="0">
            <a:spAutoFit/>
          </a:bodyPr>
          <a:lstStyle/>
          <a:p>
            <a:pPr algn="l">
              <a:lnSpc>
                <a:spcPct val="110000"/>
              </a:lnSpc>
            </a:pPr>
            <a:r>
              <a:rPr sz="4000" b="1" i="0">
                <a:solidFill>
                  <a:srgbClr val="0B1B2B"/>
                </a:solidFill>
                <a:latin typeface="Cambria"/>
              </a:rPr>
              <a:t>One resolution, five sessions, no treaty</a:t>
            </a:r>
          </a:p>
        </p:txBody>
      </p:sp>
      <p:sp>
        <p:nvSpPr>
          <p:cNvPr id="3" name="TextBox 2"/>
          <p:cNvSpPr txBox="1"/>
          <p:nvPr/>
        </p:nvSpPr>
        <p:spPr>
          <a:xfrm>
            <a:off x="548640" y="1691640"/>
            <a:ext cx="5455921" cy="1005840"/>
          </a:xfrm>
          <a:prstGeom prst="rect">
            <a:avLst/>
          </a:prstGeom>
          <a:noFill/>
        </p:spPr>
        <p:txBody>
          <a:bodyPr wrap="square" anchor="t" lIns="0" rIns="0" tIns="0" bIns="0">
            <a:spAutoFit/>
          </a:bodyPr>
          <a:lstStyle/>
          <a:p>
            <a:pPr algn="l">
              <a:lnSpc>
                <a:spcPct val="130000"/>
              </a:lnSpc>
            </a:pPr>
            <a:r>
              <a:rPr sz="1600" b="0" i="0">
                <a:solidFill>
                  <a:srgbClr val="0B1B2B"/>
                </a:solidFill>
                <a:latin typeface="Calibri"/>
              </a:rPr>
              <a:t>In March 2022, 175 countries agreed to negotiate a binding treaty covering the </a:t>
            </a:r>
            <a:r>
              <a:rPr sz="1600" b="1" i="0">
                <a:solidFill>
                  <a:srgbClr val="0B1B2B"/>
                </a:solidFill>
                <a:latin typeface="Calibri"/>
              </a:rPr>
              <a:t>[full life cycle]</a:t>
            </a:r>
            <a:r>
              <a:rPr sz="1600" b="0" i="0">
                <a:solidFill>
                  <a:srgbClr val="0B1B2B"/>
                </a:solidFill>
                <a:latin typeface="Calibri"/>
              </a:rPr>
              <a:t> of plastic. Production, use, disposal.</a:t>
            </a:r>
          </a:p>
        </p:txBody>
      </p:sp>
      <p:sp>
        <p:nvSpPr>
          <p:cNvPr id="4" name="TextBox 3"/>
          <p:cNvSpPr txBox="1"/>
          <p:nvPr/>
        </p:nvSpPr>
        <p:spPr>
          <a:xfrm>
            <a:off x="548640" y="2606040"/>
            <a:ext cx="5455921" cy="548640"/>
          </a:xfrm>
          <a:prstGeom prst="rect">
            <a:avLst/>
          </a:prstGeom>
          <a:noFill/>
        </p:spPr>
        <p:txBody>
          <a:bodyPr wrap="square" anchor="t" lIns="0" rIns="0" tIns="0" bIns="0">
            <a:spAutoFit/>
          </a:bodyPr>
          <a:lstStyle/>
          <a:p>
            <a:pPr algn="l">
              <a:lnSpc>
                <a:spcPct val="130000"/>
              </a:lnSpc>
            </a:pPr>
            <a:r>
              <a:rPr sz="1600" b="0" i="0">
                <a:solidFill>
                  <a:srgbClr val="0B1B2B"/>
                </a:solidFill>
                <a:latin typeface="Calibri"/>
              </a:rPr>
              <a:t>That deadline came and went. So did the next one.</a:t>
            </a:r>
          </a:p>
        </p:txBody>
      </p:sp>
      <p:cxnSp>
        <p:nvCxnSpPr>
          <p:cNvPr id="5" name="Connector 4"/>
          <p:cNvCxnSpPr/>
          <p:nvPr/>
        </p:nvCxnSpPr>
        <p:spPr>
          <a:xfrm>
            <a:off x="6949440" y="1810512"/>
            <a:ext cx="0" cy="3730752"/>
          </a:xfrm>
          <a:prstGeom prst="line">
            <a:avLst/>
          </a:prstGeom>
          <a:ln w="19050">
            <a:solidFill>
              <a:srgbClr val="6E8797"/>
            </a:solidFill>
          </a:ln>
        </p:spPr>
      </p:cxnSp>
      <p:sp>
        <p:nvSpPr>
          <p:cNvPr id="6" name="Oval 5" descr=""/>
          <p:cNvSpPr/>
          <p:nvPr/>
        </p:nvSpPr>
        <p:spPr>
          <a:xfrm>
            <a:off x="6885431" y="1746504"/>
            <a:ext cx="128016" cy="128016"/>
          </a:xfrm>
          <a:prstGeom prst="ellipse">
            <a:avLst/>
          </a:prstGeom>
          <a:solidFill>
            <a:srgbClr val="0B1B2B"/>
          </a:solidFill>
          <a:ln>
            <a:noFill/>
          </a:ln>
          <a:effectLst/>
        </p:spPr>
        <p:txBody>
          <a:bodyPr rtlCol="0" anchor="ctr"/>
          <a:lstStyle/>
          <a:p/>
        </p:txBody>
      </p:sp>
      <p:sp>
        <p:nvSpPr>
          <p:cNvPr id="7" name="TextBox 6"/>
          <p:cNvSpPr txBox="1"/>
          <p:nvPr/>
        </p:nvSpPr>
        <p:spPr>
          <a:xfrm>
            <a:off x="7114032" y="1627632"/>
            <a:ext cx="841248" cy="365760"/>
          </a:xfrm>
          <a:prstGeom prst="rect">
            <a:avLst/>
          </a:prstGeom>
          <a:noFill/>
        </p:spPr>
        <p:txBody>
          <a:bodyPr wrap="square" anchor="ctr" lIns="0" rIns="0" tIns="0" bIns="0">
            <a:spAutoFit/>
          </a:bodyPr>
          <a:lstStyle/>
          <a:p>
            <a:pPr algn="r">
              <a:lnSpc>
                <a:spcPct val="110000"/>
              </a:lnSpc>
            </a:pPr>
            <a:r>
              <a:rPr sz="1300" b="1" i="0">
                <a:solidFill>
                  <a:srgbClr val="4A6B7C"/>
                </a:solidFill>
                <a:latin typeface="Calibri"/>
              </a:rPr>
              <a:t>Mar 2022</a:t>
            </a:r>
          </a:p>
        </p:txBody>
      </p:sp>
      <p:sp>
        <p:nvSpPr>
          <p:cNvPr id="8" name="TextBox 7"/>
          <p:cNvSpPr txBox="1"/>
          <p:nvPr/>
        </p:nvSpPr>
        <p:spPr>
          <a:xfrm>
            <a:off x="8247888" y="1627632"/>
            <a:ext cx="3392424" cy="365760"/>
          </a:xfrm>
          <a:prstGeom prst="rect">
            <a:avLst/>
          </a:prstGeom>
          <a:noFill/>
        </p:spPr>
        <p:txBody>
          <a:bodyPr wrap="square" anchor="ctr" lIns="0" rIns="0" tIns="0" bIns="0">
            <a:spAutoFit/>
          </a:bodyPr>
          <a:lstStyle/>
          <a:p>
            <a:pPr algn="l">
              <a:lnSpc>
                <a:spcPct val="115000"/>
              </a:lnSpc>
            </a:pPr>
            <a:r>
              <a:rPr sz="1600" b="0" i="0">
                <a:solidFill>
                  <a:srgbClr val="0B1B2B"/>
                </a:solidFill>
                <a:latin typeface="Calibri"/>
              </a:rPr>
              <a:t>UNEA Resolution 5/14 adopted</a:t>
            </a:r>
          </a:p>
        </p:txBody>
      </p:sp>
      <p:sp>
        <p:nvSpPr>
          <p:cNvPr id="9" name="Oval 8" descr=""/>
          <p:cNvSpPr/>
          <p:nvPr/>
        </p:nvSpPr>
        <p:spPr>
          <a:xfrm>
            <a:off x="6885431" y="2679192"/>
            <a:ext cx="128016" cy="128016"/>
          </a:xfrm>
          <a:prstGeom prst="ellipse">
            <a:avLst/>
          </a:prstGeom>
          <a:solidFill>
            <a:srgbClr val="0B1B2B"/>
          </a:solidFill>
          <a:ln>
            <a:noFill/>
          </a:ln>
          <a:effectLst/>
        </p:spPr>
        <p:txBody>
          <a:bodyPr rtlCol="0" anchor="ctr"/>
          <a:lstStyle/>
          <a:p/>
        </p:txBody>
      </p:sp>
      <p:sp>
        <p:nvSpPr>
          <p:cNvPr id="10" name="TextBox 9"/>
          <p:cNvSpPr txBox="1"/>
          <p:nvPr/>
        </p:nvSpPr>
        <p:spPr>
          <a:xfrm>
            <a:off x="7114032" y="2560320"/>
            <a:ext cx="841248" cy="365760"/>
          </a:xfrm>
          <a:prstGeom prst="rect">
            <a:avLst/>
          </a:prstGeom>
          <a:noFill/>
        </p:spPr>
        <p:txBody>
          <a:bodyPr wrap="square" anchor="ctr" lIns="0" rIns="0" tIns="0" bIns="0">
            <a:spAutoFit/>
          </a:bodyPr>
          <a:lstStyle/>
          <a:p>
            <a:pPr algn="r">
              <a:lnSpc>
                <a:spcPct val="110000"/>
              </a:lnSpc>
            </a:pPr>
            <a:r>
              <a:rPr sz="1300" b="1" i="0">
                <a:solidFill>
                  <a:srgbClr val="4A6B7C"/>
                </a:solidFill>
                <a:latin typeface="Calibri"/>
              </a:rPr>
              <a:t>2022-2024</a:t>
            </a:r>
          </a:p>
        </p:txBody>
      </p:sp>
      <p:sp>
        <p:nvSpPr>
          <p:cNvPr id="11" name="TextBox 10"/>
          <p:cNvSpPr txBox="1"/>
          <p:nvPr/>
        </p:nvSpPr>
        <p:spPr>
          <a:xfrm>
            <a:off x="8247888" y="2560320"/>
            <a:ext cx="3392424" cy="365760"/>
          </a:xfrm>
          <a:prstGeom prst="rect">
            <a:avLst/>
          </a:prstGeom>
          <a:noFill/>
        </p:spPr>
        <p:txBody>
          <a:bodyPr wrap="square" anchor="ctr" lIns="0" rIns="0" tIns="0" bIns="0">
            <a:spAutoFit/>
          </a:bodyPr>
          <a:lstStyle/>
          <a:p>
            <a:pPr algn="l">
              <a:lnSpc>
                <a:spcPct val="115000"/>
              </a:lnSpc>
            </a:pPr>
            <a:r>
              <a:rPr sz="1600" b="0" i="0">
                <a:solidFill>
                  <a:srgbClr val="0B1B2B"/>
                </a:solidFill>
                <a:latin typeface="Calibri"/>
              </a:rPr>
              <a:t>INC-1 to INC-4, four rounds</a:t>
            </a:r>
          </a:p>
        </p:txBody>
      </p:sp>
      <p:sp>
        <p:nvSpPr>
          <p:cNvPr id="12" name="Oval 11" descr=""/>
          <p:cNvSpPr/>
          <p:nvPr/>
        </p:nvSpPr>
        <p:spPr>
          <a:xfrm>
            <a:off x="6839712" y="3566159"/>
            <a:ext cx="219456" cy="219456"/>
          </a:xfrm>
          <a:prstGeom prst="ellipse">
            <a:avLst/>
          </a:prstGeom>
          <a:solidFill>
            <a:srgbClr val="B03E17"/>
          </a:solidFill>
          <a:ln>
            <a:noFill/>
          </a:ln>
          <a:effectLst/>
        </p:spPr>
        <p:txBody>
          <a:bodyPr rtlCol="0" anchor="ctr"/>
          <a:lstStyle/>
          <a:p/>
        </p:txBody>
      </p:sp>
      <p:sp>
        <p:nvSpPr>
          <p:cNvPr id="13" name="TextBox 12"/>
          <p:cNvSpPr txBox="1"/>
          <p:nvPr/>
        </p:nvSpPr>
        <p:spPr>
          <a:xfrm>
            <a:off x="7114032" y="3493007"/>
            <a:ext cx="841248" cy="365760"/>
          </a:xfrm>
          <a:prstGeom prst="rect">
            <a:avLst/>
          </a:prstGeom>
          <a:noFill/>
        </p:spPr>
        <p:txBody>
          <a:bodyPr wrap="square" anchor="ctr" lIns="0" rIns="0" tIns="0" bIns="0">
            <a:spAutoFit/>
          </a:bodyPr>
          <a:lstStyle/>
          <a:p>
            <a:pPr algn="r">
              <a:lnSpc>
                <a:spcPct val="110000"/>
              </a:lnSpc>
            </a:pPr>
            <a:r>
              <a:rPr sz="1300" b="1" i="0">
                <a:solidFill>
                  <a:srgbClr val="4A6B7C"/>
                </a:solidFill>
                <a:latin typeface="Calibri"/>
              </a:rPr>
              <a:t>Dec 2024</a:t>
            </a:r>
          </a:p>
        </p:txBody>
      </p:sp>
      <p:sp>
        <p:nvSpPr>
          <p:cNvPr id="14" name="TextBox 13"/>
          <p:cNvSpPr txBox="1"/>
          <p:nvPr/>
        </p:nvSpPr>
        <p:spPr>
          <a:xfrm>
            <a:off x="8247888" y="3493007"/>
            <a:ext cx="3392424" cy="365760"/>
          </a:xfrm>
          <a:prstGeom prst="rect">
            <a:avLst/>
          </a:prstGeom>
          <a:noFill/>
        </p:spPr>
        <p:txBody>
          <a:bodyPr wrap="square" anchor="ctr" lIns="0" rIns="0" tIns="0" bIns="0">
            <a:spAutoFit/>
          </a:bodyPr>
          <a:lstStyle/>
          <a:p>
            <a:pPr algn="l">
              <a:lnSpc>
                <a:spcPct val="115000"/>
              </a:lnSpc>
            </a:pPr>
            <a:r>
              <a:rPr sz="1600" b="1" i="0">
                <a:solidFill>
                  <a:srgbClr val="B03E17"/>
                </a:solidFill>
                <a:latin typeface="Calibri"/>
              </a:rPr>
              <a:t>Busan, INC-5, collapsed</a:t>
            </a:r>
          </a:p>
        </p:txBody>
      </p:sp>
      <p:sp>
        <p:nvSpPr>
          <p:cNvPr id="15" name="Oval 14" descr=""/>
          <p:cNvSpPr/>
          <p:nvPr/>
        </p:nvSpPr>
        <p:spPr>
          <a:xfrm>
            <a:off x="6839712" y="4498848"/>
            <a:ext cx="219456" cy="219456"/>
          </a:xfrm>
          <a:prstGeom prst="ellipse">
            <a:avLst/>
          </a:prstGeom>
          <a:solidFill>
            <a:srgbClr val="B03E17"/>
          </a:solidFill>
          <a:ln>
            <a:noFill/>
          </a:ln>
          <a:effectLst/>
        </p:spPr>
        <p:txBody>
          <a:bodyPr rtlCol="0" anchor="ctr"/>
          <a:lstStyle/>
          <a:p/>
        </p:txBody>
      </p:sp>
      <p:sp>
        <p:nvSpPr>
          <p:cNvPr id="16" name="TextBox 15"/>
          <p:cNvSpPr txBox="1"/>
          <p:nvPr/>
        </p:nvSpPr>
        <p:spPr>
          <a:xfrm>
            <a:off x="7114032" y="4425696"/>
            <a:ext cx="841248" cy="365760"/>
          </a:xfrm>
          <a:prstGeom prst="rect">
            <a:avLst/>
          </a:prstGeom>
          <a:noFill/>
        </p:spPr>
        <p:txBody>
          <a:bodyPr wrap="square" anchor="ctr" lIns="0" rIns="0" tIns="0" bIns="0">
            <a:spAutoFit/>
          </a:bodyPr>
          <a:lstStyle/>
          <a:p>
            <a:pPr algn="r">
              <a:lnSpc>
                <a:spcPct val="110000"/>
              </a:lnSpc>
            </a:pPr>
            <a:r>
              <a:rPr sz="1300" b="1" i="0">
                <a:solidFill>
                  <a:srgbClr val="4A6B7C"/>
                </a:solidFill>
                <a:latin typeface="Calibri"/>
              </a:rPr>
              <a:t>Aug 2025</a:t>
            </a:r>
          </a:p>
        </p:txBody>
      </p:sp>
      <p:sp>
        <p:nvSpPr>
          <p:cNvPr id="17" name="TextBox 16"/>
          <p:cNvSpPr txBox="1"/>
          <p:nvPr/>
        </p:nvSpPr>
        <p:spPr>
          <a:xfrm>
            <a:off x="8247888" y="4425696"/>
            <a:ext cx="3392424" cy="365760"/>
          </a:xfrm>
          <a:prstGeom prst="rect">
            <a:avLst/>
          </a:prstGeom>
          <a:noFill/>
        </p:spPr>
        <p:txBody>
          <a:bodyPr wrap="square" anchor="ctr" lIns="0" rIns="0" tIns="0" bIns="0">
            <a:spAutoFit/>
          </a:bodyPr>
          <a:lstStyle/>
          <a:p>
            <a:pPr algn="l">
              <a:lnSpc>
                <a:spcPct val="115000"/>
              </a:lnSpc>
            </a:pPr>
            <a:r>
              <a:rPr sz="1600" b="1" i="0">
                <a:solidFill>
                  <a:srgbClr val="B03E17"/>
                </a:solidFill>
                <a:latin typeface="Calibri"/>
              </a:rPr>
              <a:t>Geneva, INC-5.2, collapsed</a:t>
            </a:r>
          </a:p>
        </p:txBody>
      </p:sp>
      <p:sp>
        <p:nvSpPr>
          <p:cNvPr id="18" name="Oval 17" descr=""/>
          <p:cNvSpPr/>
          <p:nvPr/>
        </p:nvSpPr>
        <p:spPr>
          <a:xfrm>
            <a:off x="6885431" y="5477256"/>
            <a:ext cx="128016" cy="128016"/>
          </a:xfrm>
          <a:prstGeom prst="ellipse">
            <a:avLst/>
          </a:prstGeom>
          <a:solidFill>
            <a:srgbClr val="0B1B2B"/>
          </a:solidFill>
          <a:ln>
            <a:noFill/>
          </a:ln>
          <a:effectLst/>
        </p:spPr>
        <p:txBody>
          <a:bodyPr rtlCol="0" anchor="ctr"/>
          <a:lstStyle/>
          <a:p/>
        </p:txBody>
      </p:sp>
      <p:sp>
        <p:nvSpPr>
          <p:cNvPr id="19" name="TextBox 18"/>
          <p:cNvSpPr txBox="1"/>
          <p:nvPr/>
        </p:nvSpPr>
        <p:spPr>
          <a:xfrm>
            <a:off x="7114032" y="5358384"/>
            <a:ext cx="841248" cy="365760"/>
          </a:xfrm>
          <a:prstGeom prst="rect">
            <a:avLst/>
          </a:prstGeom>
          <a:noFill/>
        </p:spPr>
        <p:txBody>
          <a:bodyPr wrap="square" anchor="ctr" lIns="0" rIns="0" tIns="0" bIns="0">
            <a:spAutoFit/>
          </a:bodyPr>
          <a:lstStyle/>
          <a:p>
            <a:pPr algn="r">
              <a:lnSpc>
                <a:spcPct val="110000"/>
              </a:lnSpc>
            </a:pPr>
            <a:r>
              <a:rPr sz="1300" b="1" i="0">
                <a:solidFill>
                  <a:srgbClr val="4A6B7C"/>
                </a:solidFill>
                <a:latin typeface="Calibri"/>
              </a:rPr>
              <a:t>Feb 2026</a:t>
            </a:r>
          </a:p>
        </p:txBody>
      </p:sp>
      <p:sp>
        <p:nvSpPr>
          <p:cNvPr id="20" name="TextBox 19"/>
          <p:cNvSpPr txBox="1"/>
          <p:nvPr/>
        </p:nvSpPr>
        <p:spPr>
          <a:xfrm>
            <a:off x="8247888" y="5358384"/>
            <a:ext cx="3392424" cy="365760"/>
          </a:xfrm>
          <a:prstGeom prst="rect">
            <a:avLst/>
          </a:prstGeom>
          <a:noFill/>
        </p:spPr>
        <p:txBody>
          <a:bodyPr wrap="square" anchor="ctr" lIns="0" rIns="0" tIns="0" bIns="0">
            <a:spAutoFit/>
          </a:bodyPr>
          <a:lstStyle/>
          <a:p>
            <a:pPr algn="l">
              <a:lnSpc>
                <a:spcPct val="115000"/>
              </a:lnSpc>
            </a:pPr>
            <a:r>
              <a:rPr sz="1600" b="0" i="0">
                <a:solidFill>
                  <a:srgbClr val="0B1B2B"/>
                </a:solidFill>
                <a:latin typeface="Calibri"/>
              </a:rPr>
              <a:t>New chair elected, Chile</a:t>
            </a:r>
          </a:p>
        </p:txBody>
      </p:sp>
      <p:sp>
        <p:nvSpPr>
          <p:cNvPr id="21" name="TextBox 20"/>
          <p:cNvSpPr txBox="1"/>
          <p:nvPr/>
        </p:nvSpPr>
        <p:spPr>
          <a:xfrm>
            <a:off x="548640" y="6035040"/>
            <a:ext cx="11094722" cy="256032"/>
          </a:xfrm>
          <a:prstGeom prst="rect">
            <a:avLst/>
          </a:prstGeom>
          <a:noFill/>
        </p:spPr>
        <p:txBody>
          <a:bodyPr wrap="square" anchor="t" lIns="0" rIns="0" tIns="0" bIns="0">
            <a:spAutoFit/>
          </a:bodyPr>
          <a:lstStyle/>
          <a:p>
            <a:pPr algn="l">
              <a:lnSpc>
                <a:spcPct val="110000"/>
              </a:lnSpc>
            </a:pPr>
            <a:r>
              <a:rPr sz="1000" b="0" i="0">
                <a:solidFill>
                  <a:srgbClr val="4A6B7C"/>
                </a:solidFill>
                <a:latin typeface="Calibri"/>
              </a:rPr>
              <a:t>Sources: UNEP INC process; IISD Earth Negotiations Bulletin.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EFE9"/>
        </a:solidFill>
        <a:effectLst/>
      </p:bgPr>
    </p:bg>
    <p:spTree>
      <p:nvGrpSpPr>
        <p:cNvPr id="1" name=""/>
        <p:cNvGrpSpPr/>
        <p:nvPr/>
      </p:nvGrpSpPr>
      <p:grpSpPr/>
      <p:sp>
        <p:nvSpPr>
          <p:cNvPr id="2" name="TextBox 1"/>
          <p:cNvSpPr txBox="1"/>
          <p:nvPr/>
        </p:nvSpPr>
        <p:spPr>
          <a:xfrm>
            <a:off x="548640" y="548640"/>
            <a:ext cx="11094722" cy="658368"/>
          </a:xfrm>
          <a:prstGeom prst="rect">
            <a:avLst/>
          </a:prstGeom>
          <a:noFill/>
        </p:spPr>
        <p:txBody>
          <a:bodyPr wrap="square" anchor="t" lIns="0" rIns="0" tIns="0" bIns="0">
            <a:spAutoFit/>
          </a:bodyPr>
          <a:lstStyle/>
          <a:p>
            <a:pPr algn="l">
              <a:lnSpc>
                <a:spcPct val="110000"/>
              </a:lnSpc>
            </a:pPr>
            <a:r>
              <a:rPr sz="4000" b="1" i="0">
                <a:solidFill>
                  <a:srgbClr val="0B1B2B"/>
                </a:solidFill>
                <a:latin typeface="Cambria"/>
              </a:rPr>
              <a:t>Both rounds died on the same split</a:t>
            </a:r>
          </a:p>
        </p:txBody>
      </p:sp>
      <p:sp>
        <p:nvSpPr>
          <p:cNvPr id="3" name="Rectangle 2" descr="Navy panel: the High Ambition Coalition side of the split"/>
          <p:cNvSpPr/>
          <p:nvPr/>
        </p:nvSpPr>
        <p:spPr>
          <a:xfrm>
            <a:off x="0" y="1508760"/>
            <a:ext cx="5852160" cy="5349240"/>
          </a:xfrm>
          <a:prstGeom prst="rect">
            <a:avLst/>
          </a:prstGeom>
          <a:solidFill>
            <a:srgbClr val="0B1B2B"/>
          </a:solidFill>
          <a:ln>
            <a:noFill/>
          </a:ln>
          <a:effectLst/>
        </p:spPr>
        <p:txBody>
          <a:bodyPr rtlCol="0" anchor="ctr"/>
          <a:lstStyle/>
          <a:p/>
        </p:txBody>
      </p:sp>
      <p:sp>
        <p:nvSpPr>
          <p:cNvPr id="4" name="TextBox 3"/>
          <p:cNvSpPr txBox="1"/>
          <p:nvPr/>
        </p:nvSpPr>
        <p:spPr>
          <a:xfrm>
            <a:off x="548640" y="1828800"/>
            <a:ext cx="4754880" cy="237744"/>
          </a:xfrm>
          <a:prstGeom prst="rect">
            <a:avLst/>
          </a:prstGeom>
          <a:noFill/>
        </p:spPr>
        <p:txBody>
          <a:bodyPr wrap="square" anchor="t" lIns="0" rIns="0" tIns="0" bIns="0">
            <a:spAutoFit/>
          </a:bodyPr>
          <a:lstStyle/>
          <a:p>
            <a:pPr algn="l">
              <a:lnSpc>
                <a:spcPct val="130000"/>
              </a:lnSpc>
            </a:pPr>
            <a:r>
              <a:rPr sz="1300" b="1" i="0" spc="104">
                <a:solidFill>
                  <a:srgbClr val="8FA9B8"/>
                </a:solidFill>
                <a:latin typeface="Calibri"/>
              </a:rPr>
              <a:t>HIGH AMBITION COALITION</a:t>
            </a:r>
          </a:p>
        </p:txBody>
      </p:sp>
      <p:sp>
        <p:nvSpPr>
          <p:cNvPr id="5" name="TextBox 4"/>
          <p:cNvSpPr txBox="1"/>
          <p:nvPr/>
        </p:nvSpPr>
        <p:spPr>
          <a:xfrm>
            <a:off x="548640" y="2212848"/>
            <a:ext cx="4754880" cy="475488"/>
          </a:xfrm>
          <a:prstGeom prst="rect">
            <a:avLst/>
          </a:prstGeom>
          <a:noFill/>
        </p:spPr>
        <p:txBody>
          <a:bodyPr wrap="square" anchor="t" lIns="0" rIns="0" tIns="0" bIns="0">
            <a:spAutoFit/>
          </a:bodyPr>
          <a:lstStyle/>
          <a:p>
            <a:pPr algn="l">
              <a:lnSpc>
                <a:spcPct val="110000"/>
              </a:lnSpc>
            </a:pPr>
            <a:r>
              <a:rPr sz="2800" b="1" i="0">
                <a:solidFill>
                  <a:srgbClr val="F2EFE9"/>
                </a:solidFill>
                <a:latin typeface="Cambria"/>
              </a:rPr>
              <a:t>70+ countries</a:t>
            </a:r>
          </a:p>
        </p:txBody>
      </p:sp>
      <p:sp>
        <p:nvSpPr>
          <p:cNvPr id="6" name="TextBox 5"/>
          <p:cNvSpPr txBox="1"/>
          <p:nvPr/>
        </p:nvSpPr>
        <p:spPr>
          <a:xfrm>
            <a:off x="548640" y="2816352"/>
            <a:ext cx="4754880" cy="868680"/>
          </a:xfrm>
          <a:prstGeom prst="rect">
            <a:avLst/>
          </a:prstGeom>
          <a:noFill/>
        </p:spPr>
        <p:txBody>
          <a:bodyPr wrap="square" anchor="t" lIns="0" rIns="0" tIns="0" bIns="0">
            <a:spAutoFit/>
          </a:bodyPr>
          <a:lstStyle/>
          <a:p>
            <a:pPr algn="l">
              <a:lnSpc>
                <a:spcPct val="130000"/>
              </a:lnSpc>
            </a:pPr>
            <a:r>
              <a:rPr sz="1600" b="0" i="0">
                <a:solidFill>
                  <a:srgbClr val="F2EFE9"/>
                </a:solidFill>
                <a:latin typeface="Calibri"/>
              </a:rPr>
              <a:t>Panama, Rwanda, the EU. They want binding caps on </a:t>
            </a:r>
            <a:r>
              <a:rPr sz="1600" b="1" i="0">
                <a:solidFill>
                  <a:srgbClr val="F2EFE9"/>
                </a:solidFill>
                <a:latin typeface="Calibri"/>
              </a:rPr>
              <a:t>[production]</a:t>
            </a:r>
            <a:r>
              <a:rPr sz="1600" b="0" i="0">
                <a:solidFill>
                  <a:srgbClr val="F2EFE9"/>
                </a:solidFill>
                <a:latin typeface="Calibri"/>
              </a:rPr>
              <a:t>.</a:t>
            </a:r>
          </a:p>
        </p:txBody>
      </p:sp>
      <p:sp>
        <p:nvSpPr>
          <p:cNvPr id="7" name="TextBox 6"/>
          <p:cNvSpPr txBox="1"/>
          <p:nvPr/>
        </p:nvSpPr>
        <p:spPr>
          <a:xfrm>
            <a:off x="576072" y="4663440"/>
            <a:ext cx="4754880" cy="1005840"/>
          </a:xfrm>
          <a:prstGeom prst="rect">
            <a:avLst/>
          </a:prstGeom>
          <a:noFill/>
        </p:spPr>
        <p:txBody>
          <a:bodyPr wrap="square" anchor="t" lIns="0" rIns="0" tIns="0" bIns="0">
            <a:spAutoFit/>
          </a:bodyPr>
          <a:lstStyle/>
          <a:p>
            <a:pPr algn="l">
              <a:lnSpc>
                <a:spcPct val="120000"/>
              </a:lnSpc>
            </a:pPr>
            <a:r>
              <a:rPr sz="2800" b="0" i="1">
                <a:solidFill>
                  <a:srgbClr val="F2EFE9"/>
                </a:solidFill>
                <a:latin typeface="Cambria"/>
              </a:rPr>
              <a:t>“We will not betray future generations.”</a:t>
            </a:r>
          </a:p>
        </p:txBody>
      </p:sp>
      <p:sp>
        <p:nvSpPr>
          <p:cNvPr id="8" name="TextBox 7"/>
          <p:cNvSpPr txBox="1"/>
          <p:nvPr/>
        </p:nvSpPr>
        <p:spPr>
          <a:xfrm>
            <a:off x="548640" y="5989320"/>
            <a:ext cx="4754880" cy="256032"/>
          </a:xfrm>
          <a:prstGeom prst="rect">
            <a:avLst/>
          </a:prstGeom>
          <a:noFill/>
        </p:spPr>
        <p:txBody>
          <a:bodyPr wrap="square" anchor="t" lIns="0" rIns="0" tIns="0" bIns="0">
            <a:spAutoFit/>
          </a:bodyPr>
          <a:lstStyle/>
          <a:p>
            <a:pPr algn="l">
              <a:lnSpc>
                <a:spcPct val="110000"/>
              </a:lnSpc>
            </a:pPr>
            <a:r>
              <a:rPr sz="1000" b="0" i="0">
                <a:solidFill>
                  <a:srgbClr val="6E8797"/>
                </a:solidFill>
                <a:latin typeface="Calibri"/>
              </a:rPr>
              <a:t>Panama's delegate, Geneva, Aug 2025. Membership: HAC, Aug 2025.</a:t>
            </a:r>
          </a:p>
        </p:txBody>
      </p:sp>
      <p:sp>
        <p:nvSpPr>
          <p:cNvPr id="9" name="TextBox 8"/>
          <p:cNvSpPr txBox="1"/>
          <p:nvPr/>
        </p:nvSpPr>
        <p:spPr>
          <a:xfrm>
            <a:off x="6400800" y="1828800"/>
            <a:ext cx="5242529" cy="237744"/>
          </a:xfrm>
          <a:prstGeom prst="rect">
            <a:avLst/>
          </a:prstGeom>
          <a:noFill/>
        </p:spPr>
        <p:txBody>
          <a:bodyPr wrap="square" anchor="t" lIns="0" rIns="0" tIns="0" bIns="0">
            <a:spAutoFit/>
          </a:bodyPr>
          <a:lstStyle/>
          <a:p>
            <a:pPr algn="l">
              <a:lnSpc>
                <a:spcPct val="130000"/>
              </a:lnSpc>
            </a:pPr>
            <a:r>
              <a:rPr sz="1300" b="1" i="0" spc="104">
                <a:solidFill>
                  <a:srgbClr val="4A6B7C"/>
                </a:solidFill>
                <a:latin typeface="Calibri"/>
              </a:rPr>
              <a:t>LIKE-MINDED GROUP</a:t>
            </a:r>
          </a:p>
        </p:txBody>
      </p:sp>
      <p:sp>
        <p:nvSpPr>
          <p:cNvPr id="10" name="TextBox 9"/>
          <p:cNvSpPr txBox="1"/>
          <p:nvPr/>
        </p:nvSpPr>
        <p:spPr>
          <a:xfrm>
            <a:off x="6400800" y="2212848"/>
            <a:ext cx="5242529" cy="475488"/>
          </a:xfrm>
          <a:prstGeom prst="rect">
            <a:avLst/>
          </a:prstGeom>
          <a:noFill/>
        </p:spPr>
        <p:txBody>
          <a:bodyPr wrap="square" anchor="t" lIns="0" rIns="0" tIns="0" bIns="0">
            <a:spAutoFit/>
          </a:bodyPr>
          <a:lstStyle/>
          <a:p>
            <a:pPr algn="l">
              <a:lnSpc>
                <a:spcPct val="110000"/>
              </a:lnSpc>
            </a:pPr>
            <a:r>
              <a:rPr sz="2800" b="1" i="0">
                <a:solidFill>
                  <a:srgbClr val="0B1B2B"/>
                </a:solidFill>
                <a:latin typeface="Cambria"/>
              </a:rPr>
              <a:t>Saudi Arabia, Russia</a:t>
            </a:r>
          </a:p>
        </p:txBody>
      </p:sp>
      <p:sp>
        <p:nvSpPr>
          <p:cNvPr id="11" name="TextBox 10"/>
          <p:cNvSpPr txBox="1"/>
          <p:nvPr/>
        </p:nvSpPr>
        <p:spPr>
          <a:xfrm>
            <a:off x="6400800" y="2816352"/>
            <a:ext cx="5242529" cy="868680"/>
          </a:xfrm>
          <a:prstGeom prst="rect">
            <a:avLst/>
          </a:prstGeom>
          <a:noFill/>
        </p:spPr>
        <p:txBody>
          <a:bodyPr wrap="square" anchor="t" lIns="0" rIns="0" tIns="0" bIns="0">
            <a:spAutoFit/>
          </a:bodyPr>
          <a:lstStyle/>
          <a:p>
            <a:pPr algn="l">
              <a:lnSpc>
                <a:spcPct val="130000"/>
              </a:lnSpc>
            </a:pPr>
            <a:r>
              <a:rPr sz="1600" b="0" i="0">
                <a:solidFill>
                  <a:srgbClr val="0B1B2B"/>
                </a:solidFill>
                <a:latin typeface="Calibri"/>
              </a:rPr>
              <a:t>Oil-producing states. They want a treaty about bins and recycling. Waste only.</a:t>
            </a:r>
          </a:p>
        </p:txBody>
      </p:sp>
      <p:sp>
        <p:nvSpPr>
          <p:cNvPr id="12" name="TextBox 11" descr="234 fossil-fuel and chemical lobbyists registered at the Geneva talks"/>
          <p:cNvSpPr txBox="1"/>
          <p:nvPr/>
        </p:nvSpPr>
        <p:spPr>
          <a:xfrm>
            <a:off x="6400800" y="3840480"/>
            <a:ext cx="3108960" cy="1207008"/>
          </a:xfrm>
          <a:prstGeom prst="rect">
            <a:avLst/>
          </a:prstGeom>
          <a:noFill/>
        </p:spPr>
        <p:txBody>
          <a:bodyPr wrap="square" anchor="t" lIns="0" rIns="0" tIns="0" bIns="0">
            <a:spAutoFit/>
          </a:bodyPr>
          <a:lstStyle/>
          <a:p>
            <a:pPr algn="l">
              <a:lnSpc>
                <a:spcPct val="100000"/>
              </a:lnSpc>
            </a:pPr>
            <a:r>
              <a:rPr sz="8800" b="1" i="0">
                <a:solidFill>
                  <a:srgbClr val="B03E17"/>
                </a:solidFill>
                <a:latin typeface="Cambria"/>
              </a:rPr>
              <a:t>234</a:t>
            </a:r>
          </a:p>
        </p:txBody>
      </p:sp>
      <p:sp>
        <p:nvSpPr>
          <p:cNvPr id="13" name="TextBox 12"/>
          <p:cNvSpPr txBox="1"/>
          <p:nvPr/>
        </p:nvSpPr>
        <p:spPr>
          <a:xfrm>
            <a:off x="6400800" y="5074920"/>
            <a:ext cx="5242529" cy="777240"/>
          </a:xfrm>
          <a:prstGeom prst="rect">
            <a:avLst/>
          </a:prstGeom>
          <a:noFill/>
        </p:spPr>
        <p:txBody>
          <a:bodyPr wrap="square" anchor="t" lIns="0" rIns="0" tIns="0" bIns="0">
            <a:spAutoFit/>
          </a:bodyPr>
          <a:lstStyle/>
          <a:p>
            <a:pPr algn="l">
              <a:lnSpc>
                <a:spcPct val="130000"/>
              </a:lnSpc>
            </a:pPr>
            <a:r>
              <a:rPr sz="1600" b="0" i="0">
                <a:solidFill>
                  <a:srgbClr val="0B1B2B"/>
                </a:solidFill>
                <a:latin typeface="Calibri"/>
              </a:rPr>
              <a:t>fossil-fuel and chemical lobbyists registered at Geneva. More people than the entire EU delegation.</a:t>
            </a:r>
          </a:p>
        </p:txBody>
      </p:sp>
      <p:sp>
        <p:nvSpPr>
          <p:cNvPr id="14" name="TextBox 13"/>
          <p:cNvSpPr txBox="1"/>
          <p:nvPr/>
        </p:nvSpPr>
        <p:spPr>
          <a:xfrm>
            <a:off x="6400800" y="5989320"/>
            <a:ext cx="5242529" cy="256032"/>
          </a:xfrm>
          <a:prstGeom prst="rect">
            <a:avLst/>
          </a:prstGeom>
          <a:noFill/>
        </p:spPr>
        <p:txBody>
          <a:bodyPr wrap="square" anchor="t" lIns="0" rIns="0" tIns="0" bIns="0">
            <a:spAutoFit/>
          </a:bodyPr>
          <a:lstStyle/>
          <a:p>
            <a:pPr algn="l">
              <a:lnSpc>
                <a:spcPct val="110000"/>
              </a:lnSpc>
            </a:pPr>
            <a:r>
              <a:rPr sz="1000" b="0" i="0">
                <a:solidFill>
                  <a:srgbClr val="4A6B7C"/>
                </a:solidFill>
                <a:latin typeface="Calibri"/>
              </a:rPr>
              <a:t>Source: CIEL analysis of the INC-5.2 participant list, Aug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EFE9"/>
        </a:solidFill>
        <a:effectLst/>
      </p:bgPr>
    </p:bg>
    <p:spTree>
      <p:nvGrpSpPr>
        <p:cNvPr id="1" name=""/>
        <p:cNvGrpSpPr/>
        <p:nvPr/>
      </p:nvGrpSpPr>
      <p:grpSpPr/>
      <p:sp>
        <p:nvSpPr>
          <p:cNvPr id="2" name="TextBox 1"/>
          <p:cNvSpPr txBox="1"/>
          <p:nvPr/>
        </p:nvSpPr>
        <p:spPr>
          <a:xfrm>
            <a:off x="548640" y="1097280"/>
            <a:ext cx="11094722" cy="1417320"/>
          </a:xfrm>
          <a:prstGeom prst="rect">
            <a:avLst/>
          </a:prstGeom>
          <a:noFill/>
        </p:spPr>
        <p:txBody>
          <a:bodyPr wrap="square" anchor="t" lIns="0" rIns="0" tIns="0" bIns="0">
            <a:spAutoFit/>
          </a:bodyPr>
          <a:lstStyle/>
          <a:p>
            <a:pPr algn="ctr">
              <a:lnSpc>
                <a:spcPct val="115000"/>
              </a:lnSpc>
            </a:pPr>
            <a:r>
              <a:rPr sz="4000" b="1" i="0">
                <a:solidFill>
                  <a:srgbClr val="0B1B2B"/>
                </a:solidFill>
                <a:latin typeface="Cambria"/>
              </a:rPr>
              <a:t>Is plastic a waste problem</a:t>
            </a:r>
          </a:p>
          <a:p>
            <a:pPr algn="ctr">
              <a:lnSpc>
                <a:spcPct val="115000"/>
              </a:lnSpc>
            </a:pPr>
            <a:r>
              <a:rPr sz="4000" b="1" i="0">
                <a:solidFill>
                  <a:srgbClr val="0B1B2B"/>
                </a:solidFill>
                <a:latin typeface="Cambria"/>
              </a:rPr>
              <a:t>or a </a:t>
            </a:r>
            <a:r>
              <a:rPr sz="4000" b="1" i="0">
                <a:solidFill>
                  <a:srgbClr val="B03E17"/>
                </a:solidFill>
                <a:latin typeface="Cambria"/>
              </a:rPr>
              <a:t>[production]</a:t>
            </a:r>
            <a:r>
              <a:rPr sz="4000" b="1" i="0">
                <a:solidFill>
                  <a:srgbClr val="0B1B2B"/>
                </a:solidFill>
                <a:latin typeface="Cambria"/>
              </a:rPr>
              <a:t> problem?</a:t>
            </a:r>
          </a:p>
        </p:txBody>
      </p:sp>
      <p:sp>
        <p:nvSpPr>
          <p:cNvPr id="3" name="Rectangle 2" descr="Option box: plastic treated as a waste problem"/>
          <p:cNvSpPr/>
          <p:nvPr/>
        </p:nvSpPr>
        <p:spPr>
          <a:xfrm>
            <a:off x="1488440" y="3200400"/>
            <a:ext cx="4379976" cy="1783080"/>
          </a:xfrm>
          <a:prstGeom prst="rect">
            <a:avLst/>
          </a:prstGeom>
          <a:noFill/>
          <a:ln w="15875">
            <a:solidFill>
              <a:srgbClr val="4A6B7C"/>
            </a:solidFill>
          </a:ln>
          <a:effectLst/>
        </p:spPr>
        <p:txBody>
          <a:bodyPr rtlCol="0" anchor="ctr"/>
          <a:lstStyle/>
          <a:p/>
        </p:txBody>
      </p:sp>
      <p:sp>
        <p:nvSpPr>
          <p:cNvPr id="4" name="TextBox 3"/>
          <p:cNvSpPr txBox="1"/>
          <p:nvPr/>
        </p:nvSpPr>
        <p:spPr>
          <a:xfrm>
            <a:off x="1854200" y="3566160"/>
            <a:ext cx="3648456" cy="237744"/>
          </a:xfrm>
          <a:prstGeom prst="rect">
            <a:avLst/>
          </a:prstGeom>
          <a:noFill/>
        </p:spPr>
        <p:txBody>
          <a:bodyPr wrap="square" anchor="t" lIns="0" rIns="0" tIns="0" bIns="0">
            <a:spAutoFit/>
          </a:bodyPr>
          <a:lstStyle/>
          <a:p>
            <a:pPr algn="l">
              <a:lnSpc>
                <a:spcPct val="130000"/>
              </a:lnSpc>
            </a:pPr>
            <a:r>
              <a:rPr sz="1300" b="1" i="0" spc="104">
                <a:solidFill>
                  <a:srgbClr val="4A6B7C"/>
                </a:solidFill>
                <a:latin typeface="Calibri"/>
              </a:rPr>
              <a:t>WASTE</a:t>
            </a:r>
          </a:p>
        </p:txBody>
      </p:sp>
      <p:sp>
        <p:nvSpPr>
          <p:cNvPr id="5" name="TextBox 4"/>
          <p:cNvSpPr txBox="1"/>
          <p:nvPr/>
        </p:nvSpPr>
        <p:spPr>
          <a:xfrm>
            <a:off x="1854200" y="3950208"/>
            <a:ext cx="3648456" cy="960120"/>
          </a:xfrm>
          <a:prstGeom prst="rect">
            <a:avLst/>
          </a:prstGeom>
          <a:noFill/>
        </p:spPr>
        <p:txBody>
          <a:bodyPr wrap="square" anchor="t" lIns="0" rIns="0" tIns="0" bIns="0">
            <a:spAutoFit/>
          </a:bodyPr>
          <a:lstStyle/>
          <a:p>
            <a:pPr algn="l">
              <a:lnSpc>
                <a:spcPct val="130000"/>
              </a:lnSpc>
            </a:pPr>
            <a:r>
              <a:rPr sz="1600" b="0" i="0">
                <a:solidFill>
                  <a:srgbClr val="0B1B2B"/>
                </a:solidFill>
                <a:latin typeface="Calibri"/>
              </a:rPr>
              <a:t>Clean it up. Recycle better. Blame the consumer.</a:t>
            </a:r>
          </a:p>
        </p:txBody>
      </p:sp>
      <p:sp>
        <p:nvSpPr>
          <p:cNvPr id="6" name="Rectangle 5" descr="Option box: plastic treated as a production problem"/>
          <p:cNvSpPr/>
          <p:nvPr/>
        </p:nvSpPr>
        <p:spPr>
          <a:xfrm>
            <a:off x="6324630" y="3200400"/>
            <a:ext cx="4379976" cy="1783080"/>
          </a:xfrm>
          <a:prstGeom prst="rect">
            <a:avLst/>
          </a:prstGeom>
          <a:noFill/>
          <a:ln w="38100">
            <a:solidFill>
              <a:srgbClr val="B03E17"/>
            </a:solidFill>
          </a:ln>
          <a:effectLst/>
        </p:spPr>
        <p:txBody>
          <a:bodyPr rtlCol="0" anchor="ctr"/>
          <a:lstStyle/>
          <a:p/>
        </p:txBody>
      </p:sp>
      <p:sp>
        <p:nvSpPr>
          <p:cNvPr id="7" name="TextBox 6"/>
          <p:cNvSpPr txBox="1"/>
          <p:nvPr/>
        </p:nvSpPr>
        <p:spPr>
          <a:xfrm>
            <a:off x="6690390" y="3566160"/>
            <a:ext cx="3648456" cy="237744"/>
          </a:xfrm>
          <a:prstGeom prst="rect">
            <a:avLst/>
          </a:prstGeom>
          <a:noFill/>
        </p:spPr>
        <p:txBody>
          <a:bodyPr wrap="square" anchor="t" lIns="0" rIns="0" tIns="0" bIns="0">
            <a:spAutoFit/>
          </a:bodyPr>
          <a:lstStyle/>
          <a:p>
            <a:pPr algn="l">
              <a:lnSpc>
                <a:spcPct val="130000"/>
              </a:lnSpc>
            </a:pPr>
            <a:r>
              <a:rPr sz="1300" b="1" i="0" spc="104">
                <a:solidFill>
                  <a:srgbClr val="B03E17"/>
                </a:solidFill>
                <a:latin typeface="Calibri"/>
              </a:rPr>
              <a:t>PRODUCTION</a:t>
            </a:r>
          </a:p>
        </p:txBody>
      </p:sp>
      <p:sp>
        <p:nvSpPr>
          <p:cNvPr id="8" name="TextBox 7"/>
          <p:cNvSpPr txBox="1"/>
          <p:nvPr/>
        </p:nvSpPr>
        <p:spPr>
          <a:xfrm>
            <a:off x="6690390" y="3950208"/>
            <a:ext cx="3648456" cy="960120"/>
          </a:xfrm>
          <a:prstGeom prst="rect">
            <a:avLst/>
          </a:prstGeom>
          <a:noFill/>
        </p:spPr>
        <p:txBody>
          <a:bodyPr wrap="square" anchor="t" lIns="0" rIns="0" tIns="0" bIns="0">
            <a:spAutoFit/>
          </a:bodyPr>
          <a:lstStyle/>
          <a:p>
            <a:pPr algn="l">
              <a:lnSpc>
                <a:spcPct val="130000"/>
              </a:lnSpc>
            </a:pPr>
            <a:r>
              <a:rPr sz="1600" b="0" i="0">
                <a:solidFill>
                  <a:srgbClr val="0B1B2B"/>
                </a:solidFill>
                <a:latin typeface="Calibri"/>
              </a:rPr>
              <a:t>Cap it at source. Ban toxic additives. Sue the maker.</a:t>
            </a:r>
          </a:p>
        </p:txBody>
      </p:sp>
      <p:sp>
        <p:nvSpPr>
          <p:cNvPr id="9" name="TextBox 8"/>
          <p:cNvSpPr txBox="1"/>
          <p:nvPr/>
        </p:nvSpPr>
        <p:spPr>
          <a:xfrm>
            <a:off x="1488440" y="5440680"/>
            <a:ext cx="10154922" cy="256032"/>
          </a:xfrm>
          <a:prstGeom prst="rect">
            <a:avLst/>
          </a:prstGeom>
          <a:noFill/>
        </p:spPr>
        <p:txBody>
          <a:bodyPr wrap="square" anchor="t" lIns="0" rIns="0" tIns="0" bIns="0">
            <a:spAutoFit/>
          </a:bodyPr>
          <a:lstStyle/>
          <a:p>
            <a:pPr algn="l">
              <a:lnSpc>
                <a:spcPct val="110000"/>
              </a:lnSpc>
            </a:pPr>
            <a:r>
              <a:rPr sz="1000" b="0" i="0">
                <a:solidFill>
                  <a:srgbClr val="4A6B7C"/>
                </a:solidFill>
                <a:latin typeface="Calibri"/>
              </a:rPr>
              <a:t>154 square brackets remain in the chair's August 2026 draft text (UNEP). Each one is a fight nobody has won yet.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TextBox 1"/>
          <p:cNvSpPr txBox="1"/>
          <p:nvPr/>
        </p:nvSpPr>
        <p:spPr>
          <a:xfrm>
            <a:off x="548640" y="548640"/>
            <a:ext cx="11094722" cy="658368"/>
          </a:xfrm>
          <a:prstGeom prst="rect">
            <a:avLst/>
          </a:prstGeom>
          <a:noFill/>
        </p:spPr>
        <p:txBody>
          <a:bodyPr wrap="square" anchor="t" lIns="0" rIns="0" tIns="0" bIns="0">
            <a:spAutoFit/>
          </a:bodyPr>
          <a:lstStyle/>
          <a:p>
            <a:pPr algn="l">
              <a:lnSpc>
                <a:spcPct val="110000"/>
              </a:lnSpc>
            </a:pPr>
            <a:r>
              <a:rPr sz="4000" b="1" i="0">
                <a:solidFill>
                  <a:srgbClr val="F2EFE9"/>
                </a:solidFill>
                <a:latin typeface="Cambria"/>
              </a:rPr>
              <a:t>Losing twice radicalised the movement</a:t>
            </a:r>
          </a:p>
        </p:txBody>
      </p:sp>
      <p:sp>
        <p:nvSpPr>
          <p:cNvPr id="3" name="TextBox 2"/>
          <p:cNvSpPr txBox="1"/>
          <p:nvPr/>
        </p:nvSpPr>
        <p:spPr>
          <a:xfrm>
            <a:off x="548640" y="1737360"/>
            <a:ext cx="4910328" cy="237744"/>
          </a:xfrm>
          <a:prstGeom prst="rect">
            <a:avLst/>
          </a:prstGeom>
          <a:noFill/>
        </p:spPr>
        <p:txBody>
          <a:bodyPr wrap="square" anchor="t" lIns="0" rIns="0" tIns="0" bIns="0">
            <a:spAutoFit/>
          </a:bodyPr>
          <a:lstStyle/>
          <a:p>
            <a:pPr algn="r">
              <a:lnSpc>
                <a:spcPct val="130000"/>
              </a:lnSpc>
            </a:pPr>
            <a:r>
              <a:rPr sz="1300" b="1" i="0" spc="104">
                <a:solidFill>
                  <a:srgbClr val="8FA9B8"/>
                </a:solidFill>
                <a:latin typeface="Calibri"/>
              </a:rPr>
              <a:t>STOPPED</a:t>
            </a:r>
          </a:p>
        </p:txBody>
      </p:sp>
      <p:sp>
        <p:nvSpPr>
          <p:cNvPr id="4" name="TextBox 3"/>
          <p:cNvSpPr txBox="1"/>
          <p:nvPr/>
        </p:nvSpPr>
        <p:spPr>
          <a:xfrm>
            <a:off x="6739128" y="1737360"/>
            <a:ext cx="4904201" cy="237744"/>
          </a:xfrm>
          <a:prstGeom prst="rect">
            <a:avLst/>
          </a:prstGeom>
          <a:noFill/>
        </p:spPr>
        <p:txBody>
          <a:bodyPr wrap="square" anchor="t" lIns="0" rIns="0" tIns="0" bIns="0">
            <a:spAutoFit/>
          </a:bodyPr>
          <a:lstStyle/>
          <a:p>
            <a:pPr algn="l">
              <a:lnSpc>
                <a:spcPct val="130000"/>
              </a:lnSpc>
            </a:pPr>
            <a:r>
              <a:rPr sz="1300" b="1" i="0" spc="104">
                <a:solidFill>
                  <a:srgbClr val="F2EFE9"/>
                </a:solidFill>
                <a:latin typeface="Calibri"/>
              </a:rPr>
              <a:t>STARTED</a:t>
            </a:r>
          </a:p>
        </p:txBody>
      </p:sp>
      <p:sp>
        <p:nvSpPr>
          <p:cNvPr id="5" name="TextBox 4"/>
          <p:cNvSpPr txBox="1"/>
          <p:nvPr/>
        </p:nvSpPr>
        <p:spPr>
          <a:xfrm>
            <a:off x="548640" y="2103120"/>
            <a:ext cx="4910328" cy="502920"/>
          </a:xfrm>
          <a:prstGeom prst="rect">
            <a:avLst/>
          </a:prstGeom>
          <a:noFill/>
        </p:spPr>
        <p:txBody>
          <a:bodyPr wrap="square" anchor="t" lIns="0" rIns="0" tIns="0" bIns="0">
            <a:spAutoFit/>
          </a:bodyPr>
          <a:lstStyle/>
          <a:p>
            <a:pPr algn="r">
              <a:lnSpc>
                <a:spcPct val="115000"/>
              </a:lnSpc>
            </a:pPr>
            <a:r>
              <a:rPr sz="2600" b="0" i="0">
                <a:solidFill>
                  <a:srgbClr val="8FA9B8"/>
                </a:solidFill>
                <a:latin typeface="Calibri"/>
              </a:rPr>
              <a:t>Trusting UN consensus</a:t>
            </a:r>
          </a:p>
        </p:txBody>
      </p:sp>
      <p:sp>
        <p:nvSpPr>
          <p:cNvPr id="6" name="Right Arrow 5" descr="changed to"/>
          <p:cNvSpPr/>
          <p:nvPr/>
        </p:nvSpPr>
        <p:spPr>
          <a:xfrm>
            <a:off x="5824728" y="2206447"/>
            <a:ext cx="548640" cy="182880"/>
          </a:xfrm>
          <a:prstGeom prst="rightArrow">
            <a:avLst>
              <a:gd name="adj1" fmla="val 25000"/>
              <a:gd name="adj2" fmla="val 50000"/>
            </a:avLst>
          </a:prstGeom>
          <a:solidFill>
            <a:srgbClr val="8FA9B8"/>
          </a:solidFill>
          <a:ln>
            <a:noFill/>
          </a:ln>
          <a:effectLst/>
        </p:spPr>
        <p:txBody>
          <a:bodyPr rtlCol="0" anchor="ctr"/>
          <a:lstStyle/>
          <a:p/>
        </p:txBody>
      </p:sp>
      <p:sp>
        <p:nvSpPr>
          <p:cNvPr id="7" name="TextBox 6"/>
          <p:cNvSpPr txBox="1"/>
          <p:nvPr/>
        </p:nvSpPr>
        <p:spPr>
          <a:xfrm>
            <a:off x="6739128" y="2103120"/>
            <a:ext cx="4904201" cy="502920"/>
          </a:xfrm>
          <a:prstGeom prst="rect">
            <a:avLst/>
          </a:prstGeom>
          <a:noFill/>
        </p:spPr>
        <p:txBody>
          <a:bodyPr wrap="square" anchor="t" lIns="0" rIns="0" tIns="0" bIns="0">
            <a:spAutoFit/>
          </a:bodyPr>
          <a:lstStyle/>
          <a:p>
            <a:pPr algn="l">
              <a:lnSpc>
                <a:spcPct val="115000"/>
              </a:lnSpc>
            </a:pPr>
            <a:r>
              <a:rPr sz="2600" b="1" i="0">
                <a:solidFill>
                  <a:srgbClr val="F2EFE9"/>
                </a:solidFill>
                <a:latin typeface="Calibri"/>
              </a:rPr>
              <a:t>Demanding majority votes</a:t>
            </a:r>
          </a:p>
        </p:txBody>
      </p:sp>
      <p:sp>
        <p:nvSpPr>
          <p:cNvPr id="8" name="TextBox 7"/>
          <p:cNvSpPr txBox="1"/>
          <p:nvPr/>
        </p:nvSpPr>
        <p:spPr>
          <a:xfrm>
            <a:off x="548640" y="3099815"/>
            <a:ext cx="4910328" cy="502920"/>
          </a:xfrm>
          <a:prstGeom prst="rect">
            <a:avLst/>
          </a:prstGeom>
          <a:noFill/>
        </p:spPr>
        <p:txBody>
          <a:bodyPr wrap="square" anchor="t" lIns="0" rIns="0" tIns="0" bIns="0">
            <a:spAutoFit/>
          </a:bodyPr>
          <a:lstStyle/>
          <a:p>
            <a:pPr algn="r">
              <a:lnSpc>
                <a:spcPct val="115000"/>
              </a:lnSpc>
            </a:pPr>
            <a:r>
              <a:rPr sz="2600" b="0" i="0">
                <a:solidFill>
                  <a:srgbClr val="8FA9B8"/>
                </a:solidFill>
                <a:latin typeface="Calibri"/>
              </a:rPr>
              <a:t>Voluntary company pledges</a:t>
            </a:r>
          </a:p>
        </p:txBody>
      </p:sp>
      <p:sp>
        <p:nvSpPr>
          <p:cNvPr id="9" name="Right Arrow 8" descr="changed to"/>
          <p:cNvSpPr/>
          <p:nvPr/>
        </p:nvSpPr>
        <p:spPr>
          <a:xfrm>
            <a:off x="5824728" y="3203143"/>
            <a:ext cx="548640" cy="182880"/>
          </a:xfrm>
          <a:prstGeom prst="rightArrow">
            <a:avLst>
              <a:gd name="adj1" fmla="val 25000"/>
              <a:gd name="adj2" fmla="val 50000"/>
            </a:avLst>
          </a:prstGeom>
          <a:solidFill>
            <a:srgbClr val="8FA9B8"/>
          </a:solidFill>
          <a:ln>
            <a:noFill/>
          </a:ln>
          <a:effectLst/>
        </p:spPr>
        <p:txBody>
          <a:bodyPr rtlCol="0" anchor="ctr"/>
          <a:lstStyle/>
          <a:p/>
        </p:txBody>
      </p:sp>
      <p:sp>
        <p:nvSpPr>
          <p:cNvPr id="10" name="TextBox 9"/>
          <p:cNvSpPr txBox="1"/>
          <p:nvPr/>
        </p:nvSpPr>
        <p:spPr>
          <a:xfrm>
            <a:off x="6739128" y="3099815"/>
            <a:ext cx="4904201" cy="502920"/>
          </a:xfrm>
          <a:prstGeom prst="rect">
            <a:avLst/>
          </a:prstGeom>
          <a:noFill/>
        </p:spPr>
        <p:txBody>
          <a:bodyPr wrap="square" anchor="t" lIns="0" rIns="0" tIns="0" bIns="0">
            <a:spAutoFit/>
          </a:bodyPr>
          <a:lstStyle/>
          <a:p>
            <a:pPr algn="l">
              <a:lnSpc>
                <a:spcPct val="115000"/>
              </a:lnSpc>
            </a:pPr>
            <a:r>
              <a:rPr sz="2600" b="1" i="0">
                <a:solidFill>
                  <a:srgbClr val="F2EFE9"/>
                </a:solidFill>
                <a:latin typeface="Calibri"/>
              </a:rPr>
              <a:t>Binding treaty law</a:t>
            </a:r>
          </a:p>
        </p:txBody>
      </p:sp>
      <p:sp>
        <p:nvSpPr>
          <p:cNvPr id="11" name="TextBox 10"/>
          <p:cNvSpPr txBox="1"/>
          <p:nvPr/>
        </p:nvSpPr>
        <p:spPr>
          <a:xfrm>
            <a:off x="6739128" y="3538727"/>
            <a:ext cx="4904201" cy="237744"/>
          </a:xfrm>
          <a:prstGeom prst="rect">
            <a:avLst/>
          </a:prstGeom>
          <a:noFill/>
        </p:spPr>
        <p:txBody>
          <a:bodyPr wrap="square" anchor="t" lIns="0" rIns="0" tIns="0" bIns="0">
            <a:spAutoFit/>
          </a:bodyPr>
          <a:lstStyle/>
          <a:p>
            <a:pPr algn="l">
              <a:lnSpc>
                <a:spcPct val="110000"/>
              </a:lnSpc>
            </a:pPr>
            <a:r>
              <a:rPr sz="1100" b="0" i="0">
                <a:solidFill>
                  <a:srgbClr val="6E8797"/>
                </a:solidFill>
                <a:latin typeface="Calibri"/>
              </a:rPr>
              <a:t>Coca-Cola cut its recycled-content target weeks after Busan</a:t>
            </a:r>
          </a:p>
        </p:txBody>
      </p:sp>
      <p:sp>
        <p:nvSpPr>
          <p:cNvPr id="12" name="TextBox 11"/>
          <p:cNvSpPr txBox="1"/>
          <p:nvPr/>
        </p:nvSpPr>
        <p:spPr>
          <a:xfrm>
            <a:off x="548640" y="4096512"/>
            <a:ext cx="4910328" cy="502920"/>
          </a:xfrm>
          <a:prstGeom prst="rect">
            <a:avLst/>
          </a:prstGeom>
          <a:noFill/>
        </p:spPr>
        <p:txBody>
          <a:bodyPr wrap="square" anchor="t" lIns="0" rIns="0" tIns="0" bIns="0">
            <a:spAutoFit/>
          </a:bodyPr>
          <a:lstStyle/>
          <a:p>
            <a:pPr algn="r">
              <a:lnSpc>
                <a:spcPct val="115000"/>
              </a:lnSpc>
            </a:pPr>
            <a:r>
              <a:rPr sz="2600" b="0" i="0">
                <a:solidFill>
                  <a:srgbClr val="8FA9B8"/>
                </a:solidFill>
                <a:latin typeface="Calibri"/>
              </a:rPr>
              <a:t>Cleanup and recycling</a:t>
            </a:r>
          </a:p>
        </p:txBody>
      </p:sp>
      <p:sp>
        <p:nvSpPr>
          <p:cNvPr id="13" name="Right Arrow 12" descr="changed to"/>
          <p:cNvSpPr/>
          <p:nvPr/>
        </p:nvSpPr>
        <p:spPr>
          <a:xfrm>
            <a:off x="5824728" y="4199839"/>
            <a:ext cx="548640" cy="182880"/>
          </a:xfrm>
          <a:prstGeom prst="rightArrow">
            <a:avLst>
              <a:gd name="adj1" fmla="val 25000"/>
              <a:gd name="adj2" fmla="val 50000"/>
            </a:avLst>
          </a:prstGeom>
          <a:solidFill>
            <a:srgbClr val="8FA9B8"/>
          </a:solidFill>
          <a:ln>
            <a:noFill/>
          </a:ln>
          <a:effectLst/>
        </p:spPr>
        <p:txBody>
          <a:bodyPr rtlCol="0" anchor="ctr"/>
          <a:lstStyle/>
          <a:p/>
        </p:txBody>
      </p:sp>
      <p:sp>
        <p:nvSpPr>
          <p:cNvPr id="14" name="TextBox 13"/>
          <p:cNvSpPr txBox="1"/>
          <p:nvPr/>
        </p:nvSpPr>
        <p:spPr>
          <a:xfrm>
            <a:off x="6739128" y="4096512"/>
            <a:ext cx="4904201" cy="502920"/>
          </a:xfrm>
          <a:prstGeom prst="rect">
            <a:avLst/>
          </a:prstGeom>
          <a:noFill/>
        </p:spPr>
        <p:txBody>
          <a:bodyPr wrap="square" anchor="t" lIns="0" rIns="0" tIns="0" bIns="0">
            <a:spAutoFit/>
          </a:bodyPr>
          <a:lstStyle/>
          <a:p>
            <a:pPr algn="l">
              <a:lnSpc>
                <a:spcPct val="115000"/>
              </a:lnSpc>
            </a:pPr>
            <a:r>
              <a:rPr sz="2600" b="1" i="0">
                <a:solidFill>
                  <a:srgbClr val="E8663A"/>
                </a:solidFill>
                <a:latin typeface="Calibri"/>
              </a:rPr>
              <a:t>[production]</a:t>
            </a:r>
            <a:r>
              <a:rPr sz="2600" b="1" i="0">
                <a:solidFill>
                  <a:srgbClr val="F2EFE9"/>
                </a:solidFill>
                <a:latin typeface="Calibri"/>
              </a:rPr>
              <a:t> caps</a:t>
            </a:r>
          </a:p>
        </p:txBody>
      </p:sp>
      <p:sp>
        <p:nvSpPr>
          <p:cNvPr id="15" name="TextBox 14"/>
          <p:cNvSpPr txBox="1"/>
          <p:nvPr/>
        </p:nvSpPr>
        <p:spPr>
          <a:xfrm>
            <a:off x="548640" y="5093208"/>
            <a:ext cx="4910328" cy="502920"/>
          </a:xfrm>
          <a:prstGeom prst="rect">
            <a:avLst/>
          </a:prstGeom>
          <a:noFill/>
        </p:spPr>
        <p:txBody>
          <a:bodyPr wrap="square" anchor="t" lIns="0" rIns="0" tIns="0" bIns="0">
            <a:spAutoFit/>
          </a:bodyPr>
          <a:lstStyle/>
          <a:p>
            <a:pPr algn="r">
              <a:lnSpc>
                <a:spcPct val="115000"/>
              </a:lnSpc>
            </a:pPr>
            <a:r>
              <a:rPr sz="2600" b="0" i="0">
                <a:solidFill>
                  <a:srgbClr val="8FA9B8"/>
                </a:solidFill>
                <a:latin typeface="Calibri"/>
              </a:rPr>
              <a:t>Lobbying governments</a:t>
            </a:r>
          </a:p>
        </p:txBody>
      </p:sp>
      <p:sp>
        <p:nvSpPr>
          <p:cNvPr id="16" name="Right Arrow 15" descr="changed to"/>
          <p:cNvSpPr/>
          <p:nvPr/>
        </p:nvSpPr>
        <p:spPr>
          <a:xfrm>
            <a:off x="5824728" y="5196535"/>
            <a:ext cx="548640" cy="182880"/>
          </a:xfrm>
          <a:prstGeom prst="rightArrow">
            <a:avLst>
              <a:gd name="adj1" fmla="val 25000"/>
              <a:gd name="adj2" fmla="val 50000"/>
            </a:avLst>
          </a:prstGeom>
          <a:solidFill>
            <a:srgbClr val="8FA9B8"/>
          </a:solidFill>
          <a:ln>
            <a:noFill/>
          </a:ln>
          <a:effectLst/>
        </p:spPr>
        <p:txBody>
          <a:bodyPr rtlCol="0" anchor="ctr"/>
          <a:lstStyle/>
          <a:p/>
        </p:txBody>
      </p:sp>
      <p:sp>
        <p:nvSpPr>
          <p:cNvPr id="17" name="TextBox 16"/>
          <p:cNvSpPr txBox="1"/>
          <p:nvPr/>
        </p:nvSpPr>
        <p:spPr>
          <a:xfrm>
            <a:off x="6739128" y="5093208"/>
            <a:ext cx="4904201" cy="502920"/>
          </a:xfrm>
          <a:prstGeom prst="rect">
            <a:avLst/>
          </a:prstGeom>
          <a:noFill/>
        </p:spPr>
        <p:txBody>
          <a:bodyPr wrap="square" anchor="t" lIns="0" rIns="0" tIns="0" bIns="0">
            <a:spAutoFit/>
          </a:bodyPr>
          <a:lstStyle/>
          <a:p>
            <a:pPr algn="l">
              <a:lnSpc>
                <a:spcPct val="115000"/>
              </a:lnSpc>
            </a:pPr>
            <a:r>
              <a:rPr sz="2600" b="1" i="0">
                <a:solidFill>
                  <a:srgbClr val="F2EFE9"/>
                </a:solidFill>
                <a:latin typeface="Calibri"/>
              </a:rPr>
              <a:t>Suing corporations</a:t>
            </a:r>
          </a:p>
        </p:txBody>
      </p:sp>
      <p:sp>
        <p:nvSpPr>
          <p:cNvPr id="18" name="TextBox 17"/>
          <p:cNvSpPr txBox="1"/>
          <p:nvPr/>
        </p:nvSpPr>
        <p:spPr>
          <a:xfrm>
            <a:off x="6739128" y="5532120"/>
            <a:ext cx="4904201" cy="237744"/>
          </a:xfrm>
          <a:prstGeom prst="rect">
            <a:avLst/>
          </a:prstGeom>
          <a:noFill/>
        </p:spPr>
        <p:txBody>
          <a:bodyPr wrap="square" anchor="t" lIns="0" rIns="0" tIns="0" bIns="0">
            <a:spAutoFit/>
          </a:bodyPr>
          <a:lstStyle/>
          <a:p>
            <a:pPr algn="l">
              <a:lnSpc>
                <a:spcPct val="110000"/>
              </a:lnSpc>
            </a:pPr>
            <a:r>
              <a:rPr sz="1100" b="0" i="0">
                <a:solidFill>
                  <a:srgbClr val="6E8797"/>
                </a:solidFill>
                <a:latin typeface="Calibri"/>
              </a:rPr>
              <a:t>California v. ExxonMobil, filed September 2024</a:t>
            </a:r>
          </a:p>
        </p:txBody>
      </p:sp>
      <p:sp>
        <p:nvSpPr>
          <p:cNvPr id="39" name="TextBox 38"/>
          <p:cNvSpPr txBox="1"/>
          <p:nvPr/>
        </p:nvSpPr>
        <p:spPr>
          <a:xfrm>
            <a:off x="548640" y="6053328"/>
            <a:ext cx="11094722" cy="256032"/>
          </a:xfrm>
          <a:prstGeom prst="rect">
            <a:avLst/>
          </a:prstGeom>
          <a:noFill/>
        </p:spPr>
        <p:txBody>
          <a:bodyPr wrap="square" anchor="t" lIns="0" rIns="0" tIns="0" bIns="0">
            <a:spAutoFit/>
          </a:bodyPr>
          <a:lstStyle/>
          <a:p>
            <a:pPr algn="l">
              <a:lnSpc>
                <a:spcPct val="110000"/>
              </a:lnSpc>
            </a:pPr>
            <a:r>
              <a:rPr sz="1000" b="0" i="0">
                <a:solidFill>
                  <a:srgbClr val="6E8797"/>
                </a:solidFill>
                <a:latin typeface="Calibri"/>
              </a:rPr>
              <a:t>Sources: CIEL; Coca-Cola 2030 target revision, Dec 2024; California Attorney General.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EFE9"/>
        </a:solidFill>
        <a:effectLst/>
      </p:bgPr>
    </p:bg>
    <p:spTree>
      <p:nvGrpSpPr>
        <p:cNvPr id="1" name=""/>
        <p:cNvGrpSpPr/>
        <p:nvPr/>
      </p:nvGrpSpPr>
      <p:grpSpPr/>
      <p:sp>
        <p:nvSpPr>
          <p:cNvPr id="2" name="TextBox 1"/>
          <p:cNvSpPr txBox="1"/>
          <p:nvPr/>
        </p:nvSpPr>
        <p:spPr>
          <a:xfrm>
            <a:off x="548640" y="548640"/>
            <a:ext cx="11094722" cy="658368"/>
          </a:xfrm>
          <a:prstGeom prst="rect">
            <a:avLst/>
          </a:prstGeom>
          <a:noFill/>
        </p:spPr>
        <p:txBody>
          <a:bodyPr wrap="square" anchor="t" lIns="0" rIns="0" tIns="0" bIns="0">
            <a:spAutoFit/>
          </a:bodyPr>
          <a:lstStyle/>
          <a:p>
            <a:pPr algn="l">
              <a:lnSpc>
                <a:spcPct val="110000"/>
              </a:lnSpc>
            </a:pPr>
            <a:r>
              <a:rPr sz="4000" b="1" i="0">
                <a:solidFill>
                  <a:srgbClr val="0B1B2B"/>
                </a:solidFill>
                <a:latin typeface="Cambria"/>
              </a:rPr>
              <a:t>Alive, but shrinking</a:t>
            </a:r>
          </a:p>
        </p:txBody>
      </p:sp>
      <p:sp>
        <p:nvSpPr>
          <p:cNvPr id="3" name="TextBox 2"/>
          <p:cNvSpPr txBox="1"/>
          <p:nvPr/>
        </p:nvSpPr>
        <p:spPr>
          <a:xfrm>
            <a:off x="548640" y="1874519"/>
            <a:ext cx="7223760" cy="237744"/>
          </a:xfrm>
          <a:prstGeom prst="rect">
            <a:avLst/>
          </a:prstGeom>
          <a:noFill/>
        </p:spPr>
        <p:txBody>
          <a:bodyPr wrap="square" anchor="t" lIns="0" rIns="0" tIns="0" bIns="0">
            <a:spAutoFit/>
          </a:bodyPr>
          <a:lstStyle/>
          <a:p>
            <a:pPr algn="l">
              <a:lnSpc>
                <a:spcPct val="130000"/>
              </a:lnSpc>
            </a:pPr>
            <a:r>
              <a:rPr sz="1300" b="1" i="0" spc="104">
                <a:solidFill>
                  <a:srgbClr val="4A6B7C"/>
                </a:solidFill>
                <a:latin typeface="Calibri"/>
              </a:rPr>
              <a:t>WHAT THE CHAIR TOOK OUT</a:t>
            </a:r>
          </a:p>
        </p:txBody>
      </p:sp>
      <p:sp>
        <p:nvSpPr>
          <p:cNvPr id="4" name="TextBox 3" descr="The word production, struck through: cut from the August 2026 draft"/>
          <p:cNvSpPr txBox="1"/>
          <p:nvPr/>
        </p:nvSpPr>
        <p:spPr>
          <a:xfrm>
            <a:off x="548640" y="2240280"/>
            <a:ext cx="7223760" cy="1188720"/>
          </a:xfrm>
          <a:prstGeom prst="rect">
            <a:avLst/>
          </a:prstGeom>
          <a:noFill/>
        </p:spPr>
        <p:txBody>
          <a:bodyPr wrap="square" anchor="t" lIns="0" rIns="0" tIns="0" bIns="0">
            <a:spAutoFit/>
          </a:bodyPr>
          <a:lstStyle/>
          <a:p>
            <a:pPr algn="l">
              <a:lnSpc>
                <a:spcPct val="100000"/>
              </a:lnSpc>
            </a:pPr>
            <a:r>
              <a:rPr sz="7200" b="1" i="0">
                <a:solidFill>
                  <a:srgbClr val="B03E17"/>
                </a:solidFill>
                <a:latin typeface="Cambria"/>
              </a:rPr>
              <a:t>[</a:t>
            </a:r>
            <a:r>
              <a:rPr sz="7200" b="1" i="0" strike="sngStrike">
                <a:solidFill>
                  <a:srgbClr val="B03E17"/>
                </a:solidFill>
                <a:latin typeface="Cambria"/>
              </a:rPr>
              <a:t>production</a:t>
            </a:r>
            <a:r>
              <a:rPr sz="7200" b="1" i="0">
                <a:solidFill>
                  <a:srgbClr val="B03E17"/>
                </a:solidFill>
                <a:latin typeface="Cambria"/>
              </a:rPr>
              <a:t>]</a:t>
            </a:r>
          </a:p>
        </p:txBody>
      </p:sp>
      <p:sp>
        <p:nvSpPr>
          <p:cNvPr id="5" name="TextBox 4"/>
          <p:cNvSpPr txBox="1"/>
          <p:nvPr/>
        </p:nvSpPr>
        <p:spPr>
          <a:xfrm>
            <a:off x="6583680" y="2331720"/>
            <a:ext cx="4023360" cy="1417320"/>
          </a:xfrm>
          <a:prstGeom prst="rect">
            <a:avLst/>
          </a:prstGeom>
          <a:noFill/>
        </p:spPr>
        <p:txBody>
          <a:bodyPr wrap="square" anchor="t" lIns="0" rIns="0" tIns="0" bIns="0">
            <a:spAutoFit/>
          </a:bodyPr>
          <a:lstStyle/>
          <a:p>
            <a:pPr algn="l">
              <a:lnSpc>
                <a:spcPct val="130000"/>
              </a:lnSpc>
            </a:pPr>
            <a:r>
              <a:rPr sz="1600" b="0" i="0">
                <a:solidFill>
                  <a:srgbClr val="0B1B2B"/>
                </a:solidFill>
                <a:latin typeface="Calibri"/>
              </a:rPr>
              <a:t>Cut from the chair's August 2026 draft. France called it disappointing.</a:t>
            </a:r>
          </a:p>
        </p:txBody>
      </p:sp>
      <p:cxnSp>
        <p:nvCxnSpPr>
          <p:cNvPr id="6" name="Connector 5"/>
          <p:cNvCxnSpPr/>
          <p:nvPr/>
        </p:nvCxnSpPr>
        <p:spPr>
          <a:xfrm>
            <a:off x="617219" y="4279392"/>
            <a:ext cx="8900039" cy="0"/>
          </a:xfrm>
          <a:prstGeom prst="line">
            <a:avLst/>
          </a:prstGeom>
          <a:ln w="19050">
            <a:solidFill>
              <a:srgbClr val="6E8797"/>
            </a:solidFill>
          </a:ln>
        </p:spPr>
      </p:cxnSp>
      <p:sp>
        <p:nvSpPr>
          <p:cNvPr id="7" name="Oval 6" descr=""/>
          <p:cNvSpPr/>
          <p:nvPr/>
        </p:nvSpPr>
        <p:spPr>
          <a:xfrm>
            <a:off x="548640" y="4210812"/>
            <a:ext cx="137160" cy="137160"/>
          </a:xfrm>
          <a:prstGeom prst="ellipse">
            <a:avLst/>
          </a:prstGeom>
          <a:solidFill>
            <a:srgbClr val="0B1B2B"/>
          </a:solidFill>
          <a:ln>
            <a:noFill/>
          </a:ln>
          <a:effectLst/>
        </p:spPr>
        <p:txBody>
          <a:bodyPr rtlCol="0" anchor="ctr"/>
          <a:lstStyle/>
          <a:p/>
        </p:txBody>
      </p:sp>
      <p:sp>
        <p:nvSpPr>
          <p:cNvPr id="8" name="TextBox 7"/>
          <p:cNvSpPr txBox="1"/>
          <p:nvPr/>
        </p:nvSpPr>
        <p:spPr>
          <a:xfrm>
            <a:off x="548640" y="4507992"/>
            <a:ext cx="2042129" cy="237744"/>
          </a:xfrm>
          <a:prstGeom prst="rect">
            <a:avLst/>
          </a:prstGeom>
          <a:noFill/>
        </p:spPr>
        <p:txBody>
          <a:bodyPr wrap="square" anchor="t" lIns="0" rIns="0" tIns="0" bIns="0">
            <a:spAutoFit/>
          </a:bodyPr>
          <a:lstStyle/>
          <a:p>
            <a:pPr algn="l">
              <a:lnSpc>
                <a:spcPct val="110000"/>
              </a:lnSpc>
            </a:pPr>
            <a:r>
              <a:rPr sz="1100" b="1" i="0">
                <a:solidFill>
                  <a:srgbClr val="4A6B7C"/>
                </a:solidFill>
                <a:latin typeface="Calibri"/>
              </a:rPr>
              <a:t>Feb 2026</a:t>
            </a:r>
          </a:p>
        </p:txBody>
      </p:sp>
      <p:sp>
        <p:nvSpPr>
          <p:cNvPr id="9" name="TextBox 8"/>
          <p:cNvSpPr txBox="1"/>
          <p:nvPr/>
        </p:nvSpPr>
        <p:spPr>
          <a:xfrm>
            <a:off x="548640" y="4782312"/>
            <a:ext cx="2042129" cy="685800"/>
          </a:xfrm>
          <a:prstGeom prst="rect">
            <a:avLst/>
          </a:prstGeom>
          <a:noFill/>
        </p:spPr>
        <p:txBody>
          <a:bodyPr wrap="square" anchor="t" lIns="0" rIns="0" tIns="0" bIns="0">
            <a:spAutoFit/>
          </a:bodyPr>
          <a:lstStyle/>
          <a:p>
            <a:pPr algn="l">
              <a:lnSpc>
                <a:spcPct val="115000"/>
              </a:lnSpc>
            </a:pPr>
            <a:r>
              <a:rPr sz="1600" b="0" i="0">
                <a:solidFill>
                  <a:srgbClr val="0B1B2B"/>
                </a:solidFill>
                <a:latin typeface="Calibri"/>
              </a:rPr>
              <a:t>New chair, Julio Cordano</a:t>
            </a:r>
          </a:p>
        </p:txBody>
      </p:sp>
      <p:sp>
        <p:nvSpPr>
          <p:cNvPr id="10" name="Oval 9" descr=""/>
          <p:cNvSpPr/>
          <p:nvPr/>
        </p:nvSpPr>
        <p:spPr>
          <a:xfrm>
            <a:off x="2773649" y="4210812"/>
            <a:ext cx="137160" cy="137160"/>
          </a:xfrm>
          <a:prstGeom prst="ellipse">
            <a:avLst/>
          </a:prstGeom>
          <a:solidFill>
            <a:srgbClr val="0B1B2B"/>
          </a:solidFill>
          <a:ln>
            <a:noFill/>
          </a:ln>
          <a:effectLst/>
        </p:spPr>
        <p:txBody>
          <a:bodyPr rtlCol="0" anchor="ctr"/>
          <a:lstStyle/>
          <a:p/>
        </p:txBody>
      </p:sp>
      <p:sp>
        <p:nvSpPr>
          <p:cNvPr id="11" name="TextBox 10"/>
          <p:cNvSpPr txBox="1"/>
          <p:nvPr/>
        </p:nvSpPr>
        <p:spPr>
          <a:xfrm>
            <a:off x="2773649" y="4507992"/>
            <a:ext cx="2042129" cy="237744"/>
          </a:xfrm>
          <a:prstGeom prst="rect">
            <a:avLst/>
          </a:prstGeom>
          <a:noFill/>
        </p:spPr>
        <p:txBody>
          <a:bodyPr wrap="square" anchor="t" lIns="0" rIns="0" tIns="0" bIns="0">
            <a:spAutoFit/>
          </a:bodyPr>
          <a:lstStyle/>
          <a:p>
            <a:pPr algn="l">
              <a:lnSpc>
                <a:spcPct val="110000"/>
              </a:lnSpc>
            </a:pPr>
            <a:r>
              <a:rPr sz="1100" b="1" i="0">
                <a:solidFill>
                  <a:srgbClr val="4A6B7C"/>
                </a:solidFill>
                <a:latin typeface="Calibri"/>
              </a:rPr>
              <a:t>Jul 2026</a:t>
            </a:r>
          </a:p>
        </p:txBody>
      </p:sp>
      <p:sp>
        <p:nvSpPr>
          <p:cNvPr id="12" name="TextBox 11"/>
          <p:cNvSpPr txBox="1"/>
          <p:nvPr/>
        </p:nvSpPr>
        <p:spPr>
          <a:xfrm>
            <a:off x="2773649" y="4782312"/>
            <a:ext cx="2042129" cy="685800"/>
          </a:xfrm>
          <a:prstGeom prst="rect">
            <a:avLst/>
          </a:prstGeom>
          <a:noFill/>
        </p:spPr>
        <p:txBody>
          <a:bodyPr wrap="square" anchor="t" lIns="0" rIns="0" tIns="0" bIns="0">
            <a:spAutoFit/>
          </a:bodyPr>
          <a:lstStyle/>
          <a:p>
            <a:pPr algn="l">
              <a:lnSpc>
                <a:spcPct val="115000"/>
              </a:lnSpc>
            </a:pPr>
            <a:r>
              <a:rPr sz="1600" b="0" i="0">
                <a:solidFill>
                  <a:srgbClr val="0B1B2B"/>
                </a:solidFill>
                <a:latin typeface="Calibri"/>
              </a:rPr>
              <a:t>Talks restart, Nairobi</a:t>
            </a:r>
          </a:p>
        </p:txBody>
      </p:sp>
      <p:sp>
        <p:nvSpPr>
          <p:cNvPr id="13" name="Oval 12" descr=""/>
          <p:cNvSpPr/>
          <p:nvPr/>
        </p:nvSpPr>
        <p:spPr>
          <a:xfrm>
            <a:off x="4998659" y="4210812"/>
            <a:ext cx="137160" cy="137160"/>
          </a:xfrm>
          <a:prstGeom prst="ellipse">
            <a:avLst/>
          </a:prstGeom>
          <a:solidFill>
            <a:srgbClr val="B03E17"/>
          </a:solidFill>
          <a:ln>
            <a:noFill/>
          </a:ln>
          <a:effectLst/>
        </p:spPr>
        <p:txBody>
          <a:bodyPr rtlCol="0" anchor="ctr"/>
          <a:lstStyle/>
          <a:p/>
        </p:txBody>
      </p:sp>
      <p:sp>
        <p:nvSpPr>
          <p:cNvPr id="14" name="TextBox 13"/>
          <p:cNvSpPr txBox="1"/>
          <p:nvPr/>
        </p:nvSpPr>
        <p:spPr>
          <a:xfrm>
            <a:off x="4998659" y="4507992"/>
            <a:ext cx="2042129" cy="237744"/>
          </a:xfrm>
          <a:prstGeom prst="rect">
            <a:avLst/>
          </a:prstGeom>
          <a:noFill/>
        </p:spPr>
        <p:txBody>
          <a:bodyPr wrap="square" anchor="t" lIns="0" rIns="0" tIns="0" bIns="0">
            <a:spAutoFit/>
          </a:bodyPr>
          <a:lstStyle/>
          <a:p>
            <a:pPr algn="l">
              <a:lnSpc>
                <a:spcPct val="110000"/>
              </a:lnSpc>
            </a:pPr>
            <a:r>
              <a:rPr sz="1100" b="1" i="0">
                <a:solidFill>
                  <a:srgbClr val="4A6B7C"/>
                </a:solidFill>
                <a:latin typeface="Calibri"/>
              </a:rPr>
              <a:t>Aug 2026</a:t>
            </a:r>
          </a:p>
        </p:txBody>
      </p:sp>
      <p:sp>
        <p:nvSpPr>
          <p:cNvPr id="15" name="TextBox 14"/>
          <p:cNvSpPr txBox="1"/>
          <p:nvPr/>
        </p:nvSpPr>
        <p:spPr>
          <a:xfrm>
            <a:off x="4998659" y="4782312"/>
            <a:ext cx="2042129" cy="685800"/>
          </a:xfrm>
          <a:prstGeom prst="rect">
            <a:avLst/>
          </a:prstGeom>
          <a:noFill/>
        </p:spPr>
        <p:txBody>
          <a:bodyPr wrap="square" anchor="t" lIns="0" rIns="0" tIns="0" bIns="0">
            <a:spAutoFit/>
          </a:bodyPr>
          <a:lstStyle/>
          <a:p>
            <a:pPr algn="l">
              <a:lnSpc>
                <a:spcPct val="115000"/>
              </a:lnSpc>
            </a:pPr>
            <a:r>
              <a:rPr sz="1600" b="1" i="0">
                <a:solidFill>
                  <a:srgbClr val="0B1B2B"/>
                </a:solidFill>
                <a:latin typeface="Calibri"/>
              </a:rPr>
              <a:t>Draft drops production</a:t>
            </a:r>
          </a:p>
        </p:txBody>
      </p:sp>
      <p:sp>
        <p:nvSpPr>
          <p:cNvPr id="16" name="Oval 15" descr=""/>
          <p:cNvSpPr/>
          <p:nvPr/>
        </p:nvSpPr>
        <p:spPr>
          <a:xfrm>
            <a:off x="7223668" y="4210812"/>
            <a:ext cx="137160" cy="137160"/>
          </a:xfrm>
          <a:prstGeom prst="ellipse">
            <a:avLst/>
          </a:prstGeom>
          <a:solidFill>
            <a:srgbClr val="0B1B2B"/>
          </a:solidFill>
          <a:ln>
            <a:noFill/>
          </a:ln>
          <a:effectLst/>
        </p:spPr>
        <p:txBody>
          <a:bodyPr rtlCol="0" anchor="ctr"/>
          <a:lstStyle/>
          <a:p/>
        </p:txBody>
      </p:sp>
      <p:sp>
        <p:nvSpPr>
          <p:cNvPr id="17" name="TextBox 16"/>
          <p:cNvSpPr txBox="1"/>
          <p:nvPr/>
        </p:nvSpPr>
        <p:spPr>
          <a:xfrm>
            <a:off x="7223668" y="4507992"/>
            <a:ext cx="2042129" cy="237744"/>
          </a:xfrm>
          <a:prstGeom prst="rect">
            <a:avLst/>
          </a:prstGeom>
          <a:noFill/>
        </p:spPr>
        <p:txBody>
          <a:bodyPr wrap="square" anchor="t" lIns="0" rIns="0" tIns="0" bIns="0">
            <a:spAutoFit/>
          </a:bodyPr>
          <a:lstStyle/>
          <a:p>
            <a:pPr algn="l">
              <a:lnSpc>
                <a:spcPct val="110000"/>
              </a:lnSpc>
            </a:pPr>
            <a:r>
              <a:rPr sz="1100" b="1" i="0">
                <a:solidFill>
                  <a:srgbClr val="4A6B7C"/>
                </a:solidFill>
                <a:latin typeface="Calibri"/>
              </a:rPr>
              <a:t>Sep 2026</a:t>
            </a:r>
          </a:p>
        </p:txBody>
      </p:sp>
      <p:sp>
        <p:nvSpPr>
          <p:cNvPr id="18" name="TextBox 17"/>
          <p:cNvSpPr txBox="1"/>
          <p:nvPr/>
        </p:nvSpPr>
        <p:spPr>
          <a:xfrm>
            <a:off x="7223668" y="4782312"/>
            <a:ext cx="2042129" cy="685800"/>
          </a:xfrm>
          <a:prstGeom prst="rect">
            <a:avLst/>
          </a:prstGeom>
          <a:noFill/>
        </p:spPr>
        <p:txBody>
          <a:bodyPr wrap="square" anchor="t" lIns="0" rIns="0" tIns="0" bIns="0">
            <a:spAutoFit/>
          </a:bodyPr>
          <a:lstStyle/>
          <a:p>
            <a:pPr algn="l">
              <a:lnSpc>
                <a:spcPct val="115000"/>
              </a:lnSpc>
            </a:pPr>
            <a:r>
              <a:rPr sz="1600" b="0" i="0">
                <a:solidFill>
                  <a:srgbClr val="0B1B2B"/>
                </a:solidFill>
                <a:latin typeface="Calibri"/>
              </a:rPr>
              <a:t>Bangkok session</a:t>
            </a:r>
          </a:p>
        </p:txBody>
      </p:sp>
      <p:sp>
        <p:nvSpPr>
          <p:cNvPr id="19" name="Oval 18" descr=""/>
          <p:cNvSpPr/>
          <p:nvPr/>
        </p:nvSpPr>
        <p:spPr>
          <a:xfrm>
            <a:off x="9448678" y="4210812"/>
            <a:ext cx="137160" cy="137160"/>
          </a:xfrm>
          <a:prstGeom prst="ellipse">
            <a:avLst/>
          </a:prstGeom>
          <a:solidFill>
            <a:srgbClr val="0B1B2B"/>
          </a:solidFill>
          <a:ln>
            <a:noFill/>
          </a:ln>
          <a:effectLst/>
        </p:spPr>
        <p:txBody>
          <a:bodyPr rtlCol="0" anchor="ctr"/>
          <a:lstStyle/>
          <a:p/>
        </p:txBody>
      </p:sp>
      <p:sp>
        <p:nvSpPr>
          <p:cNvPr id="20" name="TextBox 19"/>
          <p:cNvSpPr txBox="1"/>
          <p:nvPr/>
        </p:nvSpPr>
        <p:spPr>
          <a:xfrm>
            <a:off x="9448678" y="4507992"/>
            <a:ext cx="2042129" cy="237744"/>
          </a:xfrm>
          <a:prstGeom prst="rect">
            <a:avLst/>
          </a:prstGeom>
          <a:noFill/>
        </p:spPr>
        <p:txBody>
          <a:bodyPr wrap="square" anchor="t" lIns="0" rIns="0" tIns="0" bIns="0">
            <a:spAutoFit/>
          </a:bodyPr>
          <a:lstStyle/>
          <a:p>
            <a:pPr algn="l">
              <a:lnSpc>
                <a:spcPct val="110000"/>
              </a:lnSpc>
            </a:pPr>
            <a:r>
              <a:rPr sz="1100" b="1" i="0">
                <a:solidFill>
                  <a:srgbClr val="4A6B7C"/>
                </a:solidFill>
                <a:latin typeface="Calibri"/>
              </a:rPr>
              <a:t>Mar 2027</a:t>
            </a:r>
          </a:p>
        </p:txBody>
      </p:sp>
      <p:sp>
        <p:nvSpPr>
          <p:cNvPr id="21" name="TextBox 20"/>
          <p:cNvSpPr txBox="1"/>
          <p:nvPr/>
        </p:nvSpPr>
        <p:spPr>
          <a:xfrm>
            <a:off x="9448678" y="4782312"/>
            <a:ext cx="2042129" cy="685800"/>
          </a:xfrm>
          <a:prstGeom prst="rect">
            <a:avLst/>
          </a:prstGeom>
          <a:noFill/>
        </p:spPr>
        <p:txBody>
          <a:bodyPr wrap="square" anchor="t" lIns="0" rIns="0" tIns="0" bIns="0">
            <a:spAutoFit/>
          </a:bodyPr>
          <a:lstStyle/>
          <a:p>
            <a:pPr algn="l">
              <a:lnSpc>
                <a:spcPct val="115000"/>
              </a:lnSpc>
            </a:pPr>
            <a:r>
              <a:rPr sz="1600" b="0" i="0">
                <a:solidFill>
                  <a:srgbClr val="0B1B2B"/>
                </a:solidFill>
                <a:latin typeface="Calibri"/>
              </a:rPr>
              <a:t>Formal talks resume</a:t>
            </a:r>
          </a:p>
        </p:txBody>
      </p:sp>
      <p:sp>
        <p:nvSpPr>
          <p:cNvPr id="22" name="TextBox 21"/>
          <p:cNvSpPr txBox="1"/>
          <p:nvPr/>
        </p:nvSpPr>
        <p:spPr>
          <a:xfrm>
            <a:off x="548640" y="5833872"/>
            <a:ext cx="11094722" cy="256032"/>
          </a:xfrm>
          <a:prstGeom prst="rect">
            <a:avLst/>
          </a:prstGeom>
          <a:noFill/>
        </p:spPr>
        <p:txBody>
          <a:bodyPr wrap="square" anchor="t" lIns="0" rIns="0" tIns="0" bIns="0">
            <a:spAutoFit/>
          </a:bodyPr>
          <a:lstStyle/>
          <a:p>
            <a:pPr algn="l">
              <a:lnSpc>
                <a:spcPct val="110000"/>
              </a:lnSpc>
            </a:pPr>
            <a:r>
              <a:rPr sz="1000" b="0" i="0">
                <a:solidFill>
                  <a:srgbClr val="4A6B7C"/>
                </a:solidFill>
                <a:latin typeface="Calibri"/>
              </a:rPr>
              <a:t>Sources: IISD Earth Negotiations Bulletin; UNEP; Climate Home News.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TextBox 1"/>
          <p:cNvSpPr txBox="1"/>
          <p:nvPr/>
        </p:nvSpPr>
        <p:spPr>
          <a:xfrm>
            <a:off x="548640" y="2761488"/>
            <a:ext cx="11094722" cy="731520"/>
          </a:xfrm>
          <a:prstGeom prst="rect">
            <a:avLst/>
          </a:prstGeom>
          <a:noFill/>
        </p:spPr>
        <p:txBody>
          <a:bodyPr wrap="square" anchor="t" lIns="0" rIns="0" tIns="0" bIns="0">
            <a:spAutoFit/>
          </a:bodyPr>
          <a:lstStyle/>
          <a:p>
            <a:pPr algn="ctr">
              <a:lnSpc>
                <a:spcPct val="110000"/>
              </a:lnSpc>
            </a:pPr>
            <a:r>
              <a:rPr sz="4000" b="1" i="0">
                <a:solidFill>
                  <a:srgbClr val="F2EFE9"/>
                </a:solidFill>
                <a:latin typeface="Cambria"/>
              </a:rPr>
              <a:t>Is a </a:t>
            </a:r>
            <a:r>
              <a:rPr sz="4000" b="1" i="0">
                <a:solidFill>
                  <a:srgbClr val="E8663A"/>
                </a:solidFill>
                <a:latin typeface="Cambria"/>
              </a:rPr>
              <a:t>[weak]</a:t>
            </a:r>
            <a:r>
              <a:rPr sz="4000" b="1" i="0">
                <a:solidFill>
                  <a:srgbClr val="F2EFE9"/>
                </a:solidFill>
                <a:latin typeface="Cambria"/>
              </a:rPr>
              <a:t> treaty better than no treaty?</a:t>
            </a:r>
          </a:p>
        </p:txBody>
      </p:sp>
      <p:sp>
        <p:nvSpPr>
          <p:cNvPr id="3" name="TextBox 2"/>
          <p:cNvSpPr txBox="1"/>
          <p:nvPr/>
        </p:nvSpPr>
        <p:spPr>
          <a:xfrm>
            <a:off x="548640" y="6035040"/>
            <a:ext cx="11094722" cy="256032"/>
          </a:xfrm>
          <a:prstGeom prst="rect">
            <a:avLst/>
          </a:prstGeom>
          <a:noFill/>
        </p:spPr>
        <p:txBody>
          <a:bodyPr wrap="square" anchor="t" lIns="0" rIns="0" tIns="0" bIns="0">
            <a:spAutoFit/>
          </a:bodyPr>
          <a:lstStyle/>
          <a:p>
            <a:pPr algn="l">
              <a:lnSpc>
                <a:spcPct val="110000"/>
              </a:lnSpc>
            </a:pPr>
            <a:r>
              <a:rPr sz="1000" b="0" i="0">
                <a:solidFill>
                  <a:srgbClr val="6E8797"/>
                </a:solidFill>
                <a:latin typeface="Calibri"/>
              </a:rPr>
              <a:t>Sources: UNEP; IISD Earth Negotiations Bulletin; CIEL; OECD Global Plastics Outlook 2022; Climate Home News.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Treaty That Failed Twice</dc:title>
  <dc:subject>The Global Plastics Treaty and what failing twice did to the movement</dc:subject>
  <dc:creator>Cesco Cugliari</dc:creator>
  <cp:keywords>plastics treaty, UNEP, INC, production cap</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